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8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1437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309360" y="822960"/>
            <a:ext cx="2743200" cy="2743200"/>
          </a:xfrm>
          <a:prstGeom prst="ellipse">
            <a:avLst/>
          </a:prstGeom>
          <a:solidFill>
            <a:srgbClr val="E3EFEA"/>
          </a:solidFill>
          <a:ln/>
        </p:spPr>
        <p:txBody>
          <a:bodyPr/>
          <a:lstStyle/>
          <a:p>
            <a:endParaRPr lang="ja-JP" altLang="en-US"/>
          </a:p>
        </p:txBody>
      </p:sp>
      <p:sp>
        <p:nvSpPr>
          <p:cNvPr id="3" name="Shape 1"/>
          <p:cNvSpPr/>
          <p:nvPr/>
        </p:nvSpPr>
        <p:spPr>
          <a:xfrm>
            <a:off x="7498080" y="2651760"/>
            <a:ext cx="2194560" cy="2194560"/>
          </a:xfrm>
          <a:prstGeom prst="ellipse">
            <a:avLst/>
          </a:prstGeom>
          <a:solidFill>
            <a:srgbClr val="C9DFD7"/>
          </a:solidFill>
          <a:ln/>
        </p:spPr>
        <p:txBody>
          <a:bodyPr/>
          <a:lstStyle/>
          <a:p>
            <a:endParaRPr lang="ja-JP" altLang="en-US"/>
          </a:p>
        </p:txBody>
      </p:sp>
      <p:sp>
        <p:nvSpPr>
          <p:cNvPr id="6" name="Text 4"/>
          <p:cNvSpPr/>
          <p:nvPr/>
        </p:nvSpPr>
        <p:spPr>
          <a:xfrm>
            <a:off x="457200" y="1234440"/>
            <a:ext cx="7315200" cy="1188720"/>
          </a:xfrm>
          <a:prstGeom prst="rect">
            <a:avLst/>
          </a:prstGeom>
          <a:noFill/>
          <a:ln/>
        </p:spPr>
        <p:txBody>
          <a:bodyPr wrap="square" lIns="0" tIns="0" rIns="0" bIns="0" rtlCol="0" anchor="ctr"/>
          <a:lstStyle/>
          <a:p>
            <a:pPr marL="0" indent="0" algn="l">
              <a:lnSpc>
                <a:spcPct val="125000"/>
              </a:lnSpc>
              <a:buNone/>
            </a:pPr>
            <a:r>
              <a:rPr lang="en-US" sz="2600" dirty="0">
                <a:solidFill>
                  <a:srgbClr val="1A1A1A"/>
                </a:solidFill>
                <a:latin typeface="Hiragino Kaku Gothic ProN W6" pitchFamily="34" charset="0"/>
                <a:ea typeface="Hiragino Kaku Gothic ProN W6" pitchFamily="34" charset="-122"/>
                <a:cs typeface="Hiragino Kaku Gothic ProN W6" pitchFamily="34" charset="-120"/>
              </a:rPr>
              <a:t>LightGBM×資金戦略で挑む</a:t>
            </a:r>
            <a:endParaRPr lang="en-US" sz="2600" dirty="0"/>
          </a:p>
          <a:p>
            <a:pPr marL="0" indent="0" algn="l">
              <a:lnSpc>
                <a:spcPct val="125000"/>
              </a:lnSpc>
              <a:buNone/>
            </a:pPr>
            <a:r>
              <a:rPr lang="en-US" sz="2600" dirty="0">
                <a:solidFill>
                  <a:srgbClr val="1A1A1A"/>
                </a:solidFill>
                <a:latin typeface="Hiragino Kaku Gothic ProN W6" pitchFamily="34" charset="0"/>
                <a:ea typeface="Hiragino Kaku Gothic ProN W6" pitchFamily="34" charset="-122"/>
                <a:cs typeface="Hiragino Kaku Gothic ProN W6" pitchFamily="34" charset="-120"/>
              </a:rPr>
              <a:t>競馬予測MLパイプラインの全工程</a:t>
            </a:r>
            <a:endParaRPr lang="en-US" sz="2600" dirty="0"/>
          </a:p>
        </p:txBody>
      </p:sp>
      <p:sp>
        <p:nvSpPr>
          <p:cNvPr id="7" name="Text 5"/>
          <p:cNvSpPr/>
          <p:nvPr/>
        </p:nvSpPr>
        <p:spPr>
          <a:xfrm>
            <a:off x="457200" y="2514600"/>
            <a:ext cx="6858000" cy="365760"/>
          </a:xfrm>
          <a:prstGeom prst="rect">
            <a:avLst/>
          </a:prstGeom>
          <a:noFill/>
          <a:ln/>
        </p:spPr>
        <p:txBody>
          <a:bodyPr wrap="square" lIns="0" tIns="0" rIns="0" bIns="0" rtlCol="0" anchor="ctr"/>
          <a:lstStyle/>
          <a:p>
            <a:pPr marL="0" indent="0">
              <a:buNone/>
            </a:pPr>
            <a:r>
              <a:rPr lang="en-US" sz="1200" dirty="0">
                <a:solidFill>
                  <a:srgbClr val="666666"/>
                </a:solidFill>
                <a:latin typeface="Hiragino Kaku Gothic ProN W3" pitchFamily="34" charset="0"/>
                <a:ea typeface="Hiragino Kaku Gothic ProN W3" pitchFamily="34" charset="-122"/>
                <a:cs typeface="Hiragino Kaku Gothic ProN W3" pitchFamily="34" charset="-120"/>
              </a:rPr>
              <a:t>AI競馬予想マスターズ2026 参戦システムの設計と検証</a:t>
            </a:r>
            <a:endParaRPr lang="en-US" sz="1200" dirty="0"/>
          </a:p>
        </p:txBody>
      </p:sp>
      <p:sp>
        <p:nvSpPr>
          <p:cNvPr id="8" name="Shape 6"/>
          <p:cNvSpPr/>
          <p:nvPr/>
        </p:nvSpPr>
        <p:spPr>
          <a:xfrm>
            <a:off x="457200" y="4069080"/>
            <a:ext cx="54864" cy="566928"/>
          </a:xfrm>
          <a:prstGeom prst="rect">
            <a:avLst/>
          </a:prstGeom>
          <a:solidFill>
            <a:srgbClr val="3E8C7C"/>
          </a:solidFill>
          <a:ln/>
        </p:spPr>
        <p:txBody>
          <a:bodyPr/>
          <a:lstStyle/>
          <a:p>
            <a:endParaRPr lang="ja-JP" altLang="en-US"/>
          </a:p>
        </p:txBody>
      </p:sp>
      <p:sp>
        <p:nvSpPr>
          <p:cNvPr id="9" name="Text 7"/>
          <p:cNvSpPr/>
          <p:nvPr/>
        </p:nvSpPr>
        <p:spPr>
          <a:xfrm>
            <a:off x="621792" y="4041648"/>
            <a:ext cx="5486400" cy="640080"/>
          </a:xfrm>
          <a:prstGeom prst="rect">
            <a:avLst/>
          </a:prstGeom>
          <a:noFill/>
          <a:ln/>
        </p:spPr>
        <p:txBody>
          <a:bodyPr wrap="square" lIns="0" tIns="0" rIns="0" bIns="0" rtlCol="0" anchor="ctr"/>
          <a:lstStyle/>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作成日　　2026年8月6日</a:t>
            </a:r>
            <a:endParaRPr lang="en-US" sz="105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構　成　　データ収集から投票戦略まで全10章</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INTRODUCTION</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はじめに ― 予測から投票までを一気通貫で作る</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本資料は、中央競馬のレース結果を予測し実際に投票するまでのMLパイプライン全工程を、開発順に説明するものです。</a:t>
            </a:r>
            <a:endParaRPr lang="en-US" sz="1050" dirty="0"/>
          </a:p>
        </p:txBody>
      </p:sp>
      <p:sp>
        <p:nvSpPr>
          <p:cNvPr id="7" name="Shape 5"/>
          <p:cNvSpPr/>
          <p:nvPr/>
        </p:nvSpPr>
        <p:spPr>
          <a:xfrm>
            <a:off x="457200" y="1783080"/>
            <a:ext cx="2651760" cy="1325880"/>
          </a:xfrm>
          <a:prstGeom prst="rect">
            <a:avLst/>
          </a:prstGeom>
          <a:solidFill>
            <a:srgbClr val="E0EDE8"/>
          </a:solidFill>
          <a:ln/>
        </p:spPr>
        <p:txBody>
          <a:bodyPr/>
          <a:lstStyle/>
          <a:p>
            <a:endParaRPr lang="ja-JP" altLang="en-US"/>
          </a:p>
        </p:txBody>
      </p:sp>
      <p:sp>
        <p:nvSpPr>
          <p:cNvPr id="8" name="Text 6"/>
          <p:cNvSpPr/>
          <p:nvPr/>
        </p:nvSpPr>
        <p:spPr>
          <a:xfrm>
            <a:off x="59436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100万pt</a:t>
            </a:r>
            <a:endParaRPr lang="en-US" sz="1900" dirty="0"/>
          </a:p>
        </p:txBody>
      </p:sp>
      <p:sp>
        <p:nvSpPr>
          <p:cNvPr id="9" name="Text 7"/>
          <p:cNvSpPr/>
          <p:nvPr/>
        </p:nvSpPr>
        <p:spPr>
          <a:xfrm>
            <a:off x="59436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初期ポイント</a:t>
            </a:r>
            <a:endParaRPr lang="en-US" sz="1050" dirty="0"/>
          </a:p>
        </p:txBody>
      </p:sp>
      <p:sp>
        <p:nvSpPr>
          <p:cNvPr id="10" name="Text 8"/>
          <p:cNvSpPr/>
          <p:nvPr/>
        </p:nvSpPr>
        <p:spPr>
          <a:xfrm>
            <a:off x="594360" y="2532888"/>
            <a:ext cx="2377440" cy="50292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実確定オッズで払い戻し。</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最終ポイントの多い順に</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順位が決まります</a:t>
            </a:r>
            <a:endParaRPr lang="en-US" sz="1050" dirty="0"/>
          </a:p>
        </p:txBody>
      </p:sp>
      <p:sp>
        <p:nvSpPr>
          <p:cNvPr id="11" name="Shape 9"/>
          <p:cNvSpPr/>
          <p:nvPr/>
        </p:nvSpPr>
        <p:spPr>
          <a:xfrm>
            <a:off x="3246120" y="1783080"/>
            <a:ext cx="2651760" cy="1325880"/>
          </a:xfrm>
          <a:prstGeom prst="rect">
            <a:avLst/>
          </a:prstGeom>
          <a:solidFill>
            <a:srgbClr val="E0EDE8"/>
          </a:solidFill>
          <a:ln/>
        </p:spPr>
        <p:txBody>
          <a:bodyPr/>
          <a:lstStyle/>
          <a:p>
            <a:endParaRPr lang="ja-JP" altLang="en-US"/>
          </a:p>
        </p:txBody>
      </p:sp>
      <p:sp>
        <p:nvSpPr>
          <p:cNvPr id="12" name="Text 10"/>
          <p:cNvSpPr/>
          <p:nvPr/>
        </p:nvSpPr>
        <p:spPr>
          <a:xfrm>
            <a:off x="338328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96レース超</a:t>
            </a:r>
            <a:endParaRPr lang="en-US" sz="1900" dirty="0"/>
          </a:p>
        </p:txBody>
      </p:sp>
      <p:sp>
        <p:nvSpPr>
          <p:cNvPr id="13" name="Text 11"/>
          <p:cNvSpPr/>
          <p:nvPr/>
        </p:nvSpPr>
        <p:spPr>
          <a:xfrm>
            <a:off x="338328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投票義務</a:t>
            </a:r>
            <a:endParaRPr lang="en-US" sz="1050" dirty="0"/>
          </a:p>
        </p:txBody>
      </p:sp>
      <p:sp>
        <p:nvSpPr>
          <p:cNvPr id="14" name="Text 12"/>
          <p:cNvSpPr/>
          <p:nvPr/>
        </p:nvSpPr>
        <p:spPr>
          <a:xfrm>
            <a:off x="3383280" y="2532888"/>
            <a:ext cx="2377440" cy="50292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累計50万pt以上の投票も</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必須。未達は順位対象外に</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なります</a:t>
            </a:r>
            <a:endParaRPr lang="en-US" sz="1050" dirty="0"/>
          </a:p>
        </p:txBody>
      </p:sp>
      <p:sp>
        <p:nvSpPr>
          <p:cNvPr id="15" name="Shape 13"/>
          <p:cNvSpPr/>
          <p:nvPr/>
        </p:nvSpPr>
        <p:spPr>
          <a:xfrm>
            <a:off x="6035040" y="1783080"/>
            <a:ext cx="2651760" cy="1325880"/>
          </a:xfrm>
          <a:prstGeom prst="rect">
            <a:avLst/>
          </a:prstGeom>
          <a:solidFill>
            <a:srgbClr val="E0EDE8"/>
          </a:solidFill>
          <a:ln/>
        </p:spPr>
        <p:txBody>
          <a:bodyPr/>
          <a:lstStyle/>
          <a:p>
            <a:endParaRPr lang="ja-JP" altLang="en-US"/>
          </a:p>
        </p:txBody>
      </p:sp>
      <p:sp>
        <p:nvSpPr>
          <p:cNvPr id="16" name="Text 14"/>
          <p:cNvSpPr/>
          <p:nvPr/>
        </p:nvSpPr>
        <p:spPr>
          <a:xfrm>
            <a:off x="617220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9日間</a:t>
            </a:r>
            <a:endParaRPr lang="en-US" sz="1900" dirty="0"/>
          </a:p>
        </p:txBody>
      </p:sp>
      <p:sp>
        <p:nvSpPr>
          <p:cNvPr id="17" name="Text 15"/>
          <p:cNvSpPr/>
          <p:nvPr/>
        </p:nvSpPr>
        <p:spPr>
          <a:xfrm>
            <a:off x="617220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開催期間</a:t>
            </a:r>
            <a:endParaRPr lang="en-US" sz="1050" dirty="0"/>
          </a:p>
        </p:txBody>
      </p:sp>
      <p:sp>
        <p:nvSpPr>
          <p:cNvPr id="18" name="Text 16"/>
          <p:cNvSpPr/>
          <p:nvPr/>
        </p:nvSpPr>
        <p:spPr>
          <a:xfrm>
            <a:off x="6172200" y="2532888"/>
            <a:ext cx="2377440" cy="50292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2026年8月29日から9月21日</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の土日祝。1日あたり</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約36レースが対象です</a:t>
            </a:r>
            <a:endParaRPr lang="en-US" sz="1050" dirty="0"/>
          </a:p>
        </p:txBody>
      </p:sp>
      <p:sp>
        <p:nvSpPr>
          <p:cNvPr id="19" name="Text 17"/>
          <p:cNvSpPr/>
          <p:nvPr/>
        </p:nvSpPr>
        <p:spPr>
          <a:xfrm>
            <a:off x="457200" y="3337560"/>
            <a:ext cx="8229600" cy="640080"/>
          </a:xfrm>
          <a:prstGeom prst="rect">
            <a:avLst/>
          </a:prstGeom>
          <a:noFill/>
          <a:ln/>
        </p:spPr>
        <p:txBody>
          <a:bodyPr wrap="square" lIns="0" tIns="0" rIns="0" bIns="0" rtlCol="0" anchor="ctr"/>
          <a:lstStyle/>
          <a:p>
            <a:pPr marL="0" indent="0">
              <a:lnSpc>
                <a:spcPct val="150000"/>
              </a:lnSpc>
              <a:buNone/>
            </a:pPr>
            <a:r>
              <a:rPr lang="en-US" sz="1100" dirty="0">
                <a:solidFill>
                  <a:srgbClr val="1A1A1A"/>
                </a:solidFill>
                <a:latin typeface="Hiragino Kaku Gothic ProN W3" pitchFamily="34" charset="0"/>
                <a:ea typeface="Hiragino Kaku Gothic ProN W3" pitchFamily="34" charset="-122"/>
                <a:cs typeface="Hiragino Kaku Gothic ProN W3" pitchFamily="34" charset="-120"/>
              </a:rPr>
              <a:t>モデルの精度だけでなく「予測値の使い方」まで問われるのがこのコンペの特徴です。</a:t>
            </a:r>
            <a:endParaRPr lang="en-US" sz="1100" dirty="0"/>
          </a:p>
          <a:p>
            <a:pPr marL="0" indent="0">
              <a:lnSpc>
                <a:spcPct val="150000"/>
              </a:lnSpc>
              <a:buNone/>
            </a:pPr>
            <a:r>
              <a:rPr lang="en-US" sz="1100" dirty="0">
                <a:solidFill>
                  <a:srgbClr val="1A1A1A"/>
                </a:solidFill>
                <a:latin typeface="Hiragino Kaku Gothic ProN W3" pitchFamily="34" charset="0"/>
                <a:ea typeface="Hiragino Kaku Gothic ProN W3" pitchFamily="34" charset="-122"/>
                <a:cs typeface="Hiragino Kaku Gothic ProN W3" pitchFamily="34" charset="-120"/>
              </a:rPr>
              <a:t>本資料では精度検証で得た知見と、そこから投票戦略をどう設計したかまでを説明します。</a:t>
            </a:r>
            <a:endParaRPr lang="en-US" sz="1100" dirty="0"/>
          </a:p>
        </p:txBody>
      </p:sp>
      <p:sp>
        <p:nvSpPr>
          <p:cNvPr id="20" name="Shape 18"/>
          <p:cNvSpPr/>
          <p:nvPr/>
        </p:nvSpPr>
        <p:spPr>
          <a:xfrm>
            <a:off x="457200" y="4343400"/>
            <a:ext cx="82296" cy="82296"/>
          </a:xfrm>
          <a:prstGeom prst="rect">
            <a:avLst/>
          </a:prstGeom>
          <a:solidFill>
            <a:srgbClr val="3E8C7C"/>
          </a:solidFill>
          <a:ln/>
        </p:spPr>
        <p:txBody>
          <a:bodyPr/>
          <a:lstStyle/>
          <a:p>
            <a:endParaRPr lang="ja-JP" altLang="en-US"/>
          </a:p>
        </p:txBody>
      </p:sp>
      <p:sp>
        <p:nvSpPr>
          <p:cNvPr id="21" name="Text 19"/>
          <p:cNvSpPr/>
          <p:nvPr/>
        </p:nvSpPr>
        <p:spPr>
          <a:xfrm>
            <a:off x="603504" y="425196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個人的には「勝つモデル」より「負けない資金配分」の設計が最大の差別化ポイントだと考えています。</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MODEL DESIGN</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モデル設計 ― ターゲットを分解した3ヘッド構成</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性質の異なる予測対象を1つのモデルに混ぜず、ターゲット別に独立したLightGBMを学習します。</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8229600" cy="1444752"/>
        </p:xfrm>
        <a:graphic>
          <a:graphicData uri="http://schemas.openxmlformats.org/drawingml/2006/table">
            <a:tbl>
              <a:tblPr/>
              <a:tblGrid>
                <a:gridCol w="14173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292608">
                <a:tc>
                  <a:txBody>
                    <a:bodyPr/>
                    <a:lstStyle/>
                    <a:p>
                      <a:pPr marL="0" indent="0" algn="l">
                        <a:buNone/>
                      </a:pPr>
                      <a:r>
                        <a:rPr lang="en-US" sz="1050" dirty="0">
                          <a:solidFill>
                            <a:srgbClr val="FFFFFF"/>
                          </a:solidFill>
                          <a:latin typeface="Hiragino Kaku Gothic ProN W6" pitchFamily="34" charset="0"/>
                          <a:ea typeface="Hiragino Kaku Gothic ProN W6" pitchFamily="34" charset="-122"/>
                          <a:cs typeface="Hiragino Kaku Gothic ProN W6" pitchFamily="34" charset="-120"/>
                        </a:rPr>
                        <a:t>ヘッド</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E8C7C"/>
                    </a:solidFill>
                  </a:tcPr>
                </a:tc>
                <a:tc>
                  <a:txBody>
                    <a:bodyPr/>
                    <a:lstStyle/>
                    <a:p>
                      <a:pPr marL="0" indent="0" algn="l">
                        <a:buNone/>
                      </a:pPr>
                      <a:r>
                        <a:rPr lang="en-US" sz="1050" dirty="0">
                          <a:solidFill>
                            <a:srgbClr val="FFFFFF"/>
                          </a:solidFill>
                          <a:latin typeface="Hiragino Kaku Gothic ProN W6" pitchFamily="34" charset="0"/>
                          <a:ea typeface="Hiragino Kaku Gothic ProN W6" pitchFamily="34" charset="-122"/>
                          <a:cs typeface="Hiragino Kaku Gothic ProN W6" pitchFamily="34" charset="-120"/>
                        </a:rPr>
                        <a:t>ターゲット</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E8C7C"/>
                    </a:solidFill>
                  </a:tcPr>
                </a:tc>
                <a:tc>
                  <a:txBody>
                    <a:bodyPr/>
                    <a:lstStyle/>
                    <a:p>
                      <a:pPr marL="0" indent="0" algn="ctr">
                        <a:buNone/>
                      </a:pPr>
                      <a:r>
                        <a:rPr lang="en-US" sz="1050" dirty="0">
                          <a:solidFill>
                            <a:srgbClr val="FFFFFF"/>
                          </a:solidFill>
                          <a:latin typeface="Hiragino Kaku Gothic ProN W6" pitchFamily="34" charset="0"/>
                          <a:ea typeface="Hiragino Kaku Gothic ProN W6" pitchFamily="34" charset="-122"/>
                          <a:cs typeface="Hiragino Kaku Gothic ProN W6" pitchFamily="34" charset="-120"/>
                        </a:rPr>
                        <a:t>陽性率</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E8C7C"/>
                    </a:solidFill>
                  </a:tcPr>
                </a:tc>
                <a:tc>
                  <a:txBody>
                    <a:bodyPr/>
                    <a:lstStyle/>
                    <a:p>
                      <a:pPr marL="0" indent="0" algn="ctr">
                        <a:buNone/>
                      </a:pPr>
                      <a:r>
                        <a:rPr lang="en-US" sz="1050" dirty="0">
                          <a:solidFill>
                            <a:srgbClr val="FFFFFF"/>
                          </a:solidFill>
                          <a:latin typeface="Hiragino Kaku Gothic ProN W6" pitchFamily="34" charset="0"/>
                          <a:ea typeface="Hiragino Kaku Gothic ProN W6" pitchFamily="34" charset="-122"/>
                          <a:cs typeface="Hiragino Kaku Gothic ProN W6" pitchFamily="34" charset="-120"/>
                        </a:rPr>
                        <a:t>特徴量</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E8C7C"/>
                    </a:solidFill>
                  </a:tcPr>
                </a:tc>
                <a:tc>
                  <a:txBody>
                    <a:bodyPr/>
                    <a:lstStyle/>
                    <a:p>
                      <a:pPr marL="0" indent="0" algn="l">
                        <a:buNone/>
                      </a:pPr>
                      <a:r>
                        <a:rPr lang="en-US" sz="1050" dirty="0">
                          <a:solidFill>
                            <a:srgbClr val="FFFFFF"/>
                          </a:solidFill>
                          <a:latin typeface="Hiragino Kaku Gothic ProN W6" pitchFamily="34" charset="0"/>
                          <a:ea typeface="Hiragino Kaku Gothic ProN W6" pitchFamily="34" charset="-122"/>
                          <a:cs typeface="Hiragino Kaku Gothic ProN W6" pitchFamily="34" charset="-120"/>
                        </a:rPr>
                        <a:t>役割</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E8C7C"/>
                    </a:solidFill>
                  </a:tcPr>
                </a:tc>
                <a:extLst>
                  <a:ext uri="{0D108BD9-81ED-4DB2-BD59-A6C34878D82A}">
                    <a16:rowId xmlns:a16="http://schemas.microsoft.com/office/drawing/2014/main" val="10000"/>
                  </a:ext>
                </a:extLst>
              </a:tr>
              <a:tr h="384048">
                <a:tc>
                  <a:txBody>
                    <a:bodyPr/>
                    <a:lstStyle/>
                    <a:p>
                      <a:pPr marL="0" indent="0">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複勝ヘッド</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3着以内 (rank≤3)</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約21%</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46列</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安定した基礎予測。データ量が多く学習が安定</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単勝ヘッド</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1着 (rank=1)</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約7%</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46列</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投票判定の主役。不均衡はscale_pos_weightで補正</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市場残差ヘッド</a:t>
                      </a:r>
                      <a:endParaRPr lang="en-US" sz="1050" dirty="0">
                        <a:latin typeface="Hiragino Kaku Gothic ProN W6" charset="0"/>
                        <a:ea typeface="Hiragino Kaku Gothic ProN W6" charset="0"/>
                        <a:cs typeface="Hiragino Kaku Gothic ProN W6"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1着 (rank=1)</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約7%</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49列</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オッズ3列を追加し市場との乖離だけを学習 (検証用)</a:t>
                      </a:r>
                      <a:endParaRPr lang="en-US" sz="1050" dirty="0">
                        <a:latin typeface="Hiragino Kaku Gothic ProN W3" charset="0"/>
                        <a:ea typeface="Hiragino Kaku Gothic ProN W3" charset="0"/>
                        <a:cs typeface="Hiragino Kaku Gothic ProN W3" charset="0"/>
                      </a:endParaRPr>
                    </a:p>
                  </a:txBody>
                  <a:tcPr marL="54864" marR="54864" marT="54864" marB="54864"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5"/>
          <p:cNvSpPr/>
          <p:nvPr/>
        </p:nvSpPr>
        <p:spPr>
          <a:xfrm>
            <a:off x="457200" y="3520440"/>
            <a:ext cx="8229600" cy="1005840"/>
          </a:xfrm>
          <a:prstGeom prst="rect">
            <a:avLst/>
          </a:prstGeom>
          <a:noFill/>
          <a:ln/>
        </p:spPr>
        <p:txBody>
          <a:bodyPr wrap="square" lIns="0" tIns="0" rIns="0" bIns="0" rtlCol="0" anchor="ctr"/>
          <a:lstStyle/>
          <a:p>
            <a:pPr marL="0" indent="0">
              <a:lnSpc>
                <a:spcPct val="140000"/>
              </a:lnSpc>
              <a:buNone/>
            </a:pPr>
            <a:r>
              <a:rPr lang="en-US" sz="1100" dirty="0">
                <a:solidFill>
                  <a:srgbClr val="2E6E60"/>
                </a:solidFill>
                <a:latin typeface="Hiragino Kaku Gothic ProN W6" pitchFamily="34" charset="0"/>
                <a:ea typeface="Hiragino Kaku Gothic ProN W6" pitchFamily="34" charset="-122"/>
                <a:cs typeface="Hiragino Kaku Gothic ProN W6" pitchFamily="34" charset="-120"/>
              </a:rPr>
              <a:t>設計の考え方</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複勝(21%)と単勝(7%)は「堅実さ」と「勝ち切る力」という別のシグナルです。</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1つのモデルに混ぜると多数派に引っ張られるため、ヘッドを分けて学習し、</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目的関数はいずれも確率の正確さを直接測るBrierスコアを採用しました。</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DATA COLLECTION</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データ収集 ― 40年分の結果データと3つの入手経路</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学習用の過去データと、当日運用のためのAPIの2系統を使います。</a:t>
            </a:r>
            <a:endParaRPr lang="en-US" sz="1050" dirty="0"/>
          </a:p>
        </p:txBody>
      </p:sp>
      <p:sp>
        <p:nvSpPr>
          <p:cNvPr id="7" name="Shape 5"/>
          <p:cNvSpPr/>
          <p:nvPr/>
        </p:nvSpPr>
        <p:spPr>
          <a:xfrm>
            <a:off x="457200" y="1783080"/>
            <a:ext cx="2651760" cy="1417320"/>
          </a:xfrm>
          <a:prstGeom prst="rect">
            <a:avLst/>
          </a:prstGeom>
          <a:solidFill>
            <a:srgbClr val="E0EDE8"/>
          </a:solidFill>
          <a:ln/>
        </p:spPr>
        <p:txBody>
          <a:bodyPr/>
          <a:lstStyle/>
          <a:p>
            <a:endParaRPr lang="ja-JP" altLang="en-US"/>
          </a:p>
        </p:txBody>
      </p:sp>
      <p:sp>
        <p:nvSpPr>
          <p:cNvPr id="8" name="Text 6"/>
          <p:cNvSpPr/>
          <p:nvPr/>
        </p:nvSpPr>
        <p:spPr>
          <a:xfrm>
            <a:off x="59436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約140万行</a:t>
            </a:r>
            <a:endParaRPr lang="en-US" sz="1900" dirty="0"/>
          </a:p>
        </p:txBody>
      </p:sp>
      <p:sp>
        <p:nvSpPr>
          <p:cNvPr id="9" name="Text 7"/>
          <p:cNvSpPr/>
          <p:nvPr/>
        </p:nvSpPr>
        <p:spPr>
          <a:xfrm>
            <a:off x="59436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レース結果データ</a:t>
            </a:r>
            <a:endParaRPr lang="en-US" sz="1050" dirty="0"/>
          </a:p>
        </p:txBody>
      </p:sp>
      <p:sp>
        <p:nvSpPr>
          <p:cNvPr id="10" name="Text 8"/>
          <p:cNvSpPr/>
          <p:nvPr/>
        </p:nvSpPr>
        <p:spPr>
          <a:xfrm>
            <a:off x="594360" y="2532888"/>
            <a:ext cx="2377440" cy="59436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1986〜2025年・47列。</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着順・タイム・騎手・血統</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などを収録 (Shift-JIS)</a:t>
            </a:r>
            <a:endParaRPr lang="en-US" sz="1050" dirty="0"/>
          </a:p>
        </p:txBody>
      </p:sp>
      <p:sp>
        <p:nvSpPr>
          <p:cNvPr id="11" name="Shape 9"/>
          <p:cNvSpPr/>
          <p:nvPr/>
        </p:nvSpPr>
        <p:spPr>
          <a:xfrm>
            <a:off x="3246120" y="1783080"/>
            <a:ext cx="2651760" cy="1417320"/>
          </a:xfrm>
          <a:prstGeom prst="rect">
            <a:avLst/>
          </a:prstGeom>
          <a:solidFill>
            <a:srgbClr val="E0EDE8"/>
          </a:solidFill>
          <a:ln/>
        </p:spPr>
        <p:txBody>
          <a:bodyPr/>
          <a:lstStyle/>
          <a:p>
            <a:endParaRPr lang="ja-JP" altLang="en-US"/>
          </a:p>
        </p:txBody>
      </p:sp>
      <p:sp>
        <p:nvSpPr>
          <p:cNvPr id="12" name="Text 10"/>
          <p:cNvSpPr/>
          <p:nvPr/>
        </p:nvSpPr>
        <p:spPr>
          <a:xfrm>
            <a:off x="338328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約22万件</a:t>
            </a:r>
            <a:endParaRPr lang="en-US" sz="1900" dirty="0"/>
          </a:p>
        </p:txBody>
      </p:sp>
      <p:sp>
        <p:nvSpPr>
          <p:cNvPr id="13" name="Text 11"/>
          <p:cNvSpPr/>
          <p:nvPr/>
        </p:nvSpPr>
        <p:spPr>
          <a:xfrm>
            <a:off x="338328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時系列オッズCSV</a:t>
            </a:r>
            <a:endParaRPr lang="en-US" sz="1050" dirty="0"/>
          </a:p>
        </p:txBody>
      </p:sp>
      <p:sp>
        <p:nvSpPr>
          <p:cNvPr id="14" name="Text 12"/>
          <p:cNvSpPr/>
          <p:nvPr/>
        </p:nvSpPr>
        <p:spPr>
          <a:xfrm>
            <a:off x="3383280" y="2532888"/>
            <a:ext cx="2377440" cy="59436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2015〜2025年・約16GB。</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発走直前までのオッズ変動</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を収録しています</a:t>
            </a:r>
            <a:endParaRPr lang="en-US" sz="1050" dirty="0"/>
          </a:p>
        </p:txBody>
      </p:sp>
      <p:sp>
        <p:nvSpPr>
          <p:cNvPr id="15" name="Shape 13"/>
          <p:cNvSpPr/>
          <p:nvPr/>
        </p:nvSpPr>
        <p:spPr>
          <a:xfrm>
            <a:off x="6035040" y="1783080"/>
            <a:ext cx="2651760" cy="1417320"/>
          </a:xfrm>
          <a:prstGeom prst="rect">
            <a:avLst/>
          </a:prstGeom>
          <a:solidFill>
            <a:srgbClr val="E0EDE8"/>
          </a:solidFill>
          <a:ln/>
        </p:spPr>
        <p:txBody>
          <a:bodyPr/>
          <a:lstStyle/>
          <a:p>
            <a:endParaRPr lang="ja-JP" altLang="en-US"/>
          </a:p>
        </p:txBody>
      </p:sp>
      <p:sp>
        <p:nvSpPr>
          <p:cNvPr id="16" name="Text 14"/>
          <p:cNvSpPr/>
          <p:nvPr/>
        </p:nvSpPr>
        <p:spPr>
          <a:xfrm>
            <a:off x="617220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2種類</a:t>
            </a:r>
            <a:endParaRPr lang="en-US" sz="1900" dirty="0"/>
          </a:p>
        </p:txBody>
      </p:sp>
      <p:sp>
        <p:nvSpPr>
          <p:cNvPr id="17" name="Text 15"/>
          <p:cNvSpPr/>
          <p:nvPr/>
        </p:nvSpPr>
        <p:spPr>
          <a:xfrm>
            <a:off x="617220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当日データAPI</a:t>
            </a:r>
            <a:endParaRPr lang="en-US" sz="1050" dirty="0"/>
          </a:p>
        </p:txBody>
      </p:sp>
      <p:sp>
        <p:nvSpPr>
          <p:cNvPr id="18" name="Text 16"/>
          <p:cNvSpPr/>
          <p:nvPr/>
        </p:nvSpPr>
        <p:spPr>
          <a:xfrm>
            <a:off x="6172200" y="2532888"/>
            <a:ext cx="2377440" cy="59436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朝9時に出走表、発走4分</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30秒前に直前オッズを取得</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できます</a:t>
            </a:r>
            <a:endParaRPr lang="en-US" sz="1050" dirty="0"/>
          </a:p>
        </p:txBody>
      </p:sp>
      <p:sp>
        <p:nvSpPr>
          <p:cNvPr id="19" name="Text 17"/>
          <p:cNvSpPr/>
          <p:nvPr/>
        </p:nvSpPr>
        <p:spPr>
          <a:xfrm>
            <a:off x="457200" y="3429000"/>
            <a:ext cx="8229600" cy="777240"/>
          </a:xfrm>
          <a:prstGeom prst="rect">
            <a:avLst/>
          </a:prstGeom>
          <a:noFill/>
          <a:ln/>
        </p:spPr>
        <p:txBody>
          <a:bodyPr wrap="square" lIns="0" tIns="0" rIns="0" bIns="0" rtlCol="0" anchor="ctr"/>
          <a:lstStyle/>
          <a:p>
            <a:pPr marL="0" indent="0">
              <a:lnSpc>
                <a:spcPct val="140000"/>
              </a:lnSpc>
              <a:buNone/>
            </a:pPr>
            <a:r>
              <a:rPr lang="en-US" sz="1100" dirty="0">
                <a:solidFill>
                  <a:srgbClr val="2E6E60"/>
                </a:solidFill>
                <a:latin typeface="Hiragino Kaku Gothic ProN W6" pitchFamily="34" charset="0"/>
                <a:ea typeface="Hiragino Kaku Gothic ProN W6" pitchFamily="34" charset="-122"/>
                <a:cs typeface="Hiragino Kaku Gothic ProN W6" pitchFamily="34" charset="-120"/>
              </a:rPr>
              <a:t>当日の流れ</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朝に出走表を取得して全レースを予測し、各レースの発走4分10秒前に</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直前オッズを取得して投票額を決定、発走3分前の締切までにAPIで投票します。</a:t>
            </a:r>
            <a:endParaRPr lang="en-US" sz="1100" dirty="0"/>
          </a:p>
        </p:txBody>
      </p:sp>
      <p:sp>
        <p:nvSpPr>
          <p:cNvPr id="20" name="Shape 18"/>
          <p:cNvSpPr/>
          <p:nvPr/>
        </p:nvSpPr>
        <p:spPr>
          <a:xfrm>
            <a:off x="457200" y="4389120"/>
            <a:ext cx="82296" cy="82296"/>
          </a:xfrm>
          <a:prstGeom prst="rect">
            <a:avLst/>
          </a:prstGeom>
          <a:solidFill>
            <a:srgbClr val="3E8C7C"/>
          </a:solidFill>
          <a:ln/>
        </p:spPr>
        <p:txBody>
          <a:bodyPr/>
          <a:lstStyle/>
          <a:p>
            <a:endParaRPr lang="ja-JP" altLang="en-US"/>
          </a:p>
        </p:txBody>
      </p:sp>
      <p:sp>
        <p:nvSpPr>
          <p:cNvPr id="21" name="Text 19"/>
          <p:cNvSpPr/>
          <p:nvPr/>
        </p:nvSpPr>
        <p:spPr>
          <a:xfrm>
            <a:off x="603504" y="429768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APIは自己署名証明書やトークン5分失効など癖が強く、試験運用日での疎通確認を必須にしています。</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PREPROCESSING</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データの前処理 ― 学習を壊す行を先に取り除く</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47列のスキーマを固定で読み込み、結果が存在しない行を除外します。</a:t>
            </a:r>
            <a:endParaRPr lang="en-US" sz="1050" dirty="0"/>
          </a:p>
        </p:txBody>
      </p:sp>
      <p:sp>
        <p:nvSpPr>
          <p:cNvPr id="7" name="Text 5"/>
          <p:cNvSpPr/>
          <p:nvPr/>
        </p:nvSpPr>
        <p:spPr>
          <a:xfrm>
            <a:off x="457200" y="1783080"/>
            <a:ext cx="685800" cy="566928"/>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01</a:t>
            </a:r>
            <a:endParaRPr lang="en-US" sz="2200" dirty="0"/>
          </a:p>
        </p:txBody>
      </p:sp>
      <p:sp>
        <p:nvSpPr>
          <p:cNvPr id="8" name="Text 6"/>
          <p:cNvSpPr/>
          <p:nvPr/>
        </p:nvSpPr>
        <p:spPr>
          <a:xfrm>
            <a:off x="1234440" y="1783080"/>
            <a:ext cx="7406640" cy="566928"/>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スキーマ固定読込</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ヘッダなしCSVに47列の列名と型を明示的に割り当てます。encoding はShift-JIS指定です。</a:t>
            </a:r>
            <a:endParaRPr lang="en-US" sz="1150" dirty="0"/>
          </a:p>
        </p:txBody>
      </p:sp>
      <p:sp>
        <p:nvSpPr>
          <p:cNvPr id="9" name="Text 7"/>
          <p:cNvSpPr/>
          <p:nvPr/>
        </p:nvSpPr>
        <p:spPr>
          <a:xfrm>
            <a:off x="457200" y="2441448"/>
            <a:ext cx="685800" cy="566928"/>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02</a:t>
            </a:r>
            <a:endParaRPr lang="en-US" sz="2200" dirty="0"/>
          </a:p>
        </p:txBody>
      </p:sp>
      <p:sp>
        <p:nvSpPr>
          <p:cNvPr id="10" name="Text 8"/>
          <p:cNvSpPr/>
          <p:nvPr/>
        </p:nvSpPr>
        <p:spPr>
          <a:xfrm>
            <a:off x="1234440" y="2441448"/>
            <a:ext cx="7406640" cy="566928"/>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異常レコード除外</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出走取消(error_code=1)と競走除外(=3)は払い戻し対象のため、学習からも投票集計からも外します。</a:t>
            </a:r>
            <a:endParaRPr lang="en-US" sz="1150" dirty="0"/>
          </a:p>
        </p:txBody>
      </p:sp>
      <p:sp>
        <p:nvSpPr>
          <p:cNvPr id="11" name="Text 9"/>
          <p:cNvSpPr/>
          <p:nvPr/>
        </p:nvSpPr>
        <p:spPr>
          <a:xfrm>
            <a:off x="457200" y="3099816"/>
            <a:ext cx="685800" cy="566928"/>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03</a:t>
            </a:r>
            <a:endParaRPr lang="en-US" sz="2200" dirty="0"/>
          </a:p>
        </p:txBody>
      </p:sp>
      <p:sp>
        <p:nvSpPr>
          <p:cNvPr id="12" name="Text 10"/>
          <p:cNvSpPr/>
          <p:nvPr/>
        </p:nvSpPr>
        <p:spPr>
          <a:xfrm>
            <a:off x="1234440" y="3099816"/>
            <a:ext cx="7406640" cy="566928"/>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未入線の扱い</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rank=0(未入線)は「3着以内=0」として扱い、ターゲット生成時にrank≥1の条件で誤検知を防ぎます。</a:t>
            </a:r>
            <a:endParaRPr lang="en-US" sz="1150" dirty="0"/>
          </a:p>
        </p:txBody>
      </p:sp>
      <p:sp>
        <p:nvSpPr>
          <p:cNvPr id="13" name="Text 11"/>
          <p:cNvSpPr/>
          <p:nvPr/>
        </p:nvSpPr>
        <p:spPr>
          <a:xfrm>
            <a:off x="457200" y="3758184"/>
            <a:ext cx="685800" cy="566928"/>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04</a:t>
            </a:r>
            <a:endParaRPr lang="en-US" sz="2200" dirty="0"/>
          </a:p>
        </p:txBody>
      </p:sp>
      <p:sp>
        <p:nvSpPr>
          <p:cNvPr id="14" name="Text 12"/>
          <p:cNvSpPr/>
          <p:nvPr/>
        </p:nvSpPr>
        <p:spPr>
          <a:xfrm>
            <a:off x="1234440" y="3758184"/>
            <a:ext cx="7406640" cy="566928"/>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行順の不変条件</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特徴量変換の前後で行の並びを保存します。ここを壊すと学習と評価の分割が崩れます(詳細は躓きの章)。</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FEATURE ENGINEERING 1/2</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特徴量エンジニアリング ― 5モジュール46列の構成</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生データの47列から、リークのない46列の特徴量を作ります。ここが他モデルとの差が最も出る工程だと考えています。</a:t>
            </a:r>
            <a:endParaRPr lang="en-US" sz="1050" dirty="0"/>
          </a:p>
        </p:txBody>
      </p:sp>
      <p:sp>
        <p:nvSpPr>
          <p:cNvPr id="7" name="Shape 5"/>
          <p:cNvSpPr/>
          <p:nvPr/>
        </p:nvSpPr>
        <p:spPr>
          <a:xfrm>
            <a:off x="457200" y="1828800"/>
            <a:ext cx="1874520" cy="457200"/>
          </a:xfrm>
          <a:prstGeom prst="rect">
            <a:avLst/>
          </a:prstGeom>
          <a:solidFill>
            <a:srgbClr val="E0EDE8"/>
          </a:solidFill>
          <a:ln/>
        </p:spPr>
        <p:txBody>
          <a:bodyPr/>
          <a:lstStyle/>
          <a:p>
            <a:endParaRPr lang="ja-JP" altLang="en-US"/>
          </a:p>
        </p:txBody>
      </p:sp>
      <p:sp>
        <p:nvSpPr>
          <p:cNvPr id="8" name="Text 6"/>
          <p:cNvSpPr/>
          <p:nvPr/>
        </p:nvSpPr>
        <p:spPr>
          <a:xfrm>
            <a:off x="566928" y="1828800"/>
            <a:ext cx="1783080" cy="457200"/>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レース条件  </a:t>
            </a: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8列</a:t>
            </a:r>
            <a:endParaRPr lang="en-US" sz="1050" dirty="0"/>
          </a:p>
        </p:txBody>
      </p:sp>
      <p:sp>
        <p:nvSpPr>
          <p:cNvPr id="9" name="Text 7"/>
          <p:cNvSpPr/>
          <p:nvPr/>
        </p:nvSpPr>
        <p:spPr>
          <a:xfrm>
            <a:off x="2514600" y="1828800"/>
            <a:ext cx="6126480" cy="457200"/>
          </a:xfrm>
          <a:prstGeom prst="rect">
            <a:avLst/>
          </a:prstGeom>
          <a:noFill/>
          <a:ln/>
        </p:spPr>
        <p:txBody>
          <a:bodyPr wrap="square" lIns="0" tIns="0" rIns="0" bIns="0" rtlCol="0" anchor="ct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競馬場・芝ダート・距離・馬場状態・クラス・頭数などのエンコード</a:t>
            </a:r>
            <a:endParaRPr lang="en-US" sz="1050" dirty="0"/>
          </a:p>
        </p:txBody>
      </p:sp>
      <p:sp>
        <p:nvSpPr>
          <p:cNvPr id="10" name="Shape 8"/>
          <p:cNvSpPr/>
          <p:nvPr/>
        </p:nvSpPr>
        <p:spPr>
          <a:xfrm>
            <a:off x="457200" y="2359152"/>
            <a:ext cx="1874520" cy="457200"/>
          </a:xfrm>
          <a:prstGeom prst="rect">
            <a:avLst/>
          </a:prstGeom>
          <a:solidFill>
            <a:srgbClr val="E0EDE8"/>
          </a:solidFill>
          <a:ln/>
        </p:spPr>
        <p:txBody>
          <a:bodyPr/>
          <a:lstStyle/>
          <a:p>
            <a:endParaRPr lang="ja-JP" altLang="en-US"/>
          </a:p>
        </p:txBody>
      </p:sp>
      <p:sp>
        <p:nvSpPr>
          <p:cNvPr id="11" name="Text 9"/>
          <p:cNvSpPr/>
          <p:nvPr/>
        </p:nvSpPr>
        <p:spPr>
          <a:xfrm>
            <a:off x="566928" y="2359152"/>
            <a:ext cx="1783080" cy="457200"/>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馬のローリング  </a:t>
            </a: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20列</a:t>
            </a:r>
            <a:endParaRPr lang="en-US" sz="1050" dirty="0"/>
          </a:p>
        </p:txBody>
      </p:sp>
      <p:sp>
        <p:nvSpPr>
          <p:cNvPr id="12" name="Text 10"/>
          <p:cNvSpPr/>
          <p:nvPr/>
        </p:nvSpPr>
        <p:spPr>
          <a:xfrm>
            <a:off x="2514600" y="2359152"/>
            <a:ext cx="6126480" cy="457200"/>
          </a:xfrm>
          <a:prstGeom prst="rect">
            <a:avLst/>
          </a:prstGeom>
          <a:noFill/>
          <a:ln/>
        </p:spPr>
        <p:txBody>
          <a:bodyPr wrap="square" lIns="0" tIns="0" rIns="0" bIns="0" rtlCol="0" anchor="ct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直近3走の平均着順・上がり3F・距離やクラスの変化・体重増減など</a:t>
            </a:r>
            <a:endParaRPr lang="en-US" sz="1050" dirty="0"/>
          </a:p>
        </p:txBody>
      </p:sp>
      <p:sp>
        <p:nvSpPr>
          <p:cNvPr id="13" name="Shape 11"/>
          <p:cNvSpPr/>
          <p:nvPr/>
        </p:nvSpPr>
        <p:spPr>
          <a:xfrm>
            <a:off x="457200" y="2889504"/>
            <a:ext cx="1874520" cy="457200"/>
          </a:xfrm>
          <a:prstGeom prst="rect">
            <a:avLst/>
          </a:prstGeom>
          <a:solidFill>
            <a:srgbClr val="E0EDE8"/>
          </a:solidFill>
          <a:ln/>
        </p:spPr>
        <p:txBody>
          <a:bodyPr/>
          <a:lstStyle/>
          <a:p>
            <a:endParaRPr lang="ja-JP" altLang="en-US"/>
          </a:p>
        </p:txBody>
      </p:sp>
      <p:sp>
        <p:nvSpPr>
          <p:cNvPr id="14" name="Text 12"/>
          <p:cNvSpPr/>
          <p:nvPr/>
        </p:nvSpPr>
        <p:spPr>
          <a:xfrm>
            <a:off x="566928" y="2889504"/>
            <a:ext cx="1783080" cy="457200"/>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騎手の統計  </a:t>
            </a: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5列</a:t>
            </a:r>
            <a:endParaRPr lang="en-US" sz="1050" dirty="0"/>
          </a:p>
        </p:txBody>
      </p:sp>
      <p:sp>
        <p:nvSpPr>
          <p:cNvPr id="15" name="Text 13"/>
          <p:cNvSpPr/>
          <p:nvPr/>
        </p:nvSpPr>
        <p:spPr>
          <a:xfrm>
            <a:off x="2514600" y="2889504"/>
            <a:ext cx="6126480" cy="457200"/>
          </a:xfrm>
          <a:prstGeom prst="rect">
            <a:avLst/>
          </a:prstGeom>
          <a:noFill/>
          <a:ln/>
        </p:spPr>
        <p:txBody>
          <a:bodyPr wrap="square" lIns="0" tIns="0" rIns="0" bIns="0" rtlCol="0" anchor="ct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ベイズ平滑化した複勝率・勝率と、95%信頼下限による保守的な腕の推定</a:t>
            </a:r>
            <a:endParaRPr lang="en-US" sz="1050" dirty="0"/>
          </a:p>
        </p:txBody>
      </p:sp>
      <p:sp>
        <p:nvSpPr>
          <p:cNvPr id="16" name="Shape 14"/>
          <p:cNvSpPr/>
          <p:nvPr/>
        </p:nvSpPr>
        <p:spPr>
          <a:xfrm>
            <a:off x="457200" y="3419856"/>
            <a:ext cx="1874520" cy="457200"/>
          </a:xfrm>
          <a:prstGeom prst="rect">
            <a:avLst/>
          </a:prstGeom>
          <a:solidFill>
            <a:srgbClr val="E0EDE8"/>
          </a:solidFill>
          <a:ln/>
        </p:spPr>
        <p:txBody>
          <a:bodyPr/>
          <a:lstStyle/>
          <a:p>
            <a:endParaRPr lang="ja-JP" altLang="en-US"/>
          </a:p>
        </p:txBody>
      </p:sp>
      <p:sp>
        <p:nvSpPr>
          <p:cNvPr id="17" name="Text 15"/>
          <p:cNvSpPr/>
          <p:nvPr/>
        </p:nvSpPr>
        <p:spPr>
          <a:xfrm>
            <a:off x="566928" y="3419856"/>
            <a:ext cx="1783080" cy="457200"/>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種牡馬の統計  </a:t>
            </a: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5列</a:t>
            </a:r>
            <a:endParaRPr lang="en-US" sz="1050" dirty="0"/>
          </a:p>
        </p:txBody>
      </p:sp>
      <p:sp>
        <p:nvSpPr>
          <p:cNvPr id="18" name="Text 16"/>
          <p:cNvSpPr/>
          <p:nvPr/>
        </p:nvSpPr>
        <p:spPr>
          <a:xfrm>
            <a:off x="2514600" y="3419856"/>
            <a:ext cx="6126480" cy="457200"/>
          </a:xfrm>
          <a:prstGeom prst="rect">
            <a:avLst/>
          </a:prstGeom>
          <a:noFill/>
          <a:ln/>
        </p:spPr>
        <p:txBody>
          <a:bodyPr wrap="square" lIns="0" tIns="0" rIns="0" bIns="0" rtlCol="0" anchor="ct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父馬ごとの複勝率。芝・ダート別の適性も別列で保持</a:t>
            </a:r>
            <a:endParaRPr lang="en-US" sz="1050" dirty="0"/>
          </a:p>
        </p:txBody>
      </p:sp>
      <p:sp>
        <p:nvSpPr>
          <p:cNvPr id="19" name="Shape 17"/>
          <p:cNvSpPr/>
          <p:nvPr/>
        </p:nvSpPr>
        <p:spPr>
          <a:xfrm>
            <a:off x="457200" y="3950208"/>
            <a:ext cx="1874520" cy="457200"/>
          </a:xfrm>
          <a:prstGeom prst="rect">
            <a:avLst/>
          </a:prstGeom>
          <a:solidFill>
            <a:srgbClr val="E0EDE8"/>
          </a:solidFill>
          <a:ln/>
        </p:spPr>
        <p:txBody>
          <a:bodyPr/>
          <a:lstStyle/>
          <a:p>
            <a:endParaRPr lang="ja-JP" altLang="en-US"/>
          </a:p>
        </p:txBody>
      </p:sp>
      <p:sp>
        <p:nvSpPr>
          <p:cNvPr id="20" name="Text 18"/>
          <p:cNvSpPr/>
          <p:nvPr/>
        </p:nvSpPr>
        <p:spPr>
          <a:xfrm>
            <a:off x="566928" y="3950208"/>
            <a:ext cx="1783080" cy="457200"/>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レース内相対  </a:t>
            </a: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5列</a:t>
            </a:r>
            <a:endParaRPr lang="en-US" sz="1050" dirty="0"/>
          </a:p>
        </p:txBody>
      </p:sp>
      <p:sp>
        <p:nvSpPr>
          <p:cNvPr id="21" name="Text 19"/>
          <p:cNvSpPr/>
          <p:nvPr/>
        </p:nvSpPr>
        <p:spPr>
          <a:xfrm>
            <a:off x="2514600" y="3950208"/>
            <a:ext cx="6126480" cy="457200"/>
          </a:xfrm>
          <a:prstGeom prst="rect">
            <a:avLst/>
          </a:prstGeom>
          <a:noFill/>
          <a:ln/>
        </p:spPr>
        <p:txBody>
          <a:bodyPr wrap="square" lIns="0" tIns="0" rIns="0" bIns="0" rtlCol="0" anchor="ctr"/>
          <a:lstStyle/>
          <a:p>
            <a:pPr marL="0" indent="0">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同レース出走馬内でのzスコア(体重・斤量・賞金格)と相対年齢</a:t>
            </a:r>
            <a:endParaRPr lang="en-US" sz="1050" dirty="0"/>
          </a:p>
        </p:txBody>
      </p:sp>
      <p:sp>
        <p:nvSpPr>
          <p:cNvPr id="22" name="Shape 20"/>
          <p:cNvSpPr/>
          <p:nvPr/>
        </p:nvSpPr>
        <p:spPr>
          <a:xfrm>
            <a:off x="457200" y="4617720"/>
            <a:ext cx="82296" cy="82296"/>
          </a:xfrm>
          <a:prstGeom prst="rect">
            <a:avLst/>
          </a:prstGeom>
          <a:solidFill>
            <a:srgbClr val="3E8C7C"/>
          </a:solidFill>
          <a:ln/>
        </p:spPr>
        <p:txBody>
          <a:bodyPr/>
          <a:lstStyle/>
          <a:p>
            <a:endParaRPr lang="ja-JP" altLang="en-US"/>
          </a:p>
        </p:txBody>
      </p:sp>
      <p:sp>
        <p:nvSpPr>
          <p:cNvPr id="23" name="Text 21"/>
          <p:cNvSpPr/>
          <p:nvPr/>
        </p:nvSpPr>
        <p:spPr>
          <a:xfrm>
            <a:off x="603504" y="452628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残りの3列(馬番・枠番・年齢)は生値のまま渡し、計46列としています。</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FEATURE ENGINEERING 2/2</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最重要ポイント ― shift(1)によるリーク防止</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ローリング特徴量は全て「1走前まで」に限定します。予測対象レース自身の結果が混入すると精度が偽装されます。</a:t>
            </a:r>
            <a:endParaRPr lang="en-US" sz="1050" dirty="0"/>
          </a:p>
        </p:txBody>
      </p:sp>
      <p:sp>
        <p:nvSpPr>
          <p:cNvPr id="7" name="Shape 5"/>
          <p:cNvSpPr/>
          <p:nvPr/>
        </p:nvSpPr>
        <p:spPr>
          <a:xfrm>
            <a:off x="457200" y="1828800"/>
            <a:ext cx="4160520" cy="1645920"/>
          </a:xfrm>
          <a:prstGeom prst="rect">
            <a:avLst/>
          </a:prstGeom>
          <a:solidFill>
            <a:srgbClr val="F4F6F5"/>
          </a:solidFill>
          <a:ln w="9525">
            <a:solidFill>
              <a:srgbClr val="CCCCCC"/>
            </a:solidFill>
            <a:prstDash val="solid"/>
          </a:ln>
        </p:spPr>
        <p:txBody>
          <a:bodyPr/>
          <a:lstStyle/>
          <a:p>
            <a:endParaRPr lang="ja-JP" altLang="en-US"/>
          </a:p>
        </p:txBody>
      </p:sp>
      <p:sp>
        <p:nvSpPr>
          <p:cNvPr id="8" name="Text 6"/>
          <p:cNvSpPr/>
          <p:nvPr/>
        </p:nvSpPr>
        <p:spPr>
          <a:xfrm>
            <a:off x="640080" y="1938528"/>
            <a:ext cx="3840480" cy="1463040"/>
          </a:xfrm>
          <a:prstGeom prst="rect">
            <a:avLst/>
          </a:prstGeom>
          <a:noFill/>
          <a:ln/>
        </p:spPr>
        <p:txBody>
          <a:bodyPr wrap="square" lIns="0" tIns="0" rIns="0" bIns="0" rtlCol="0" anchor="t"/>
          <a:lstStyle/>
          <a:p>
            <a:pPr marL="0" indent="0">
              <a:lnSpc>
                <a:spcPct val="130000"/>
              </a:lnSpc>
              <a:buNone/>
            </a:pPr>
            <a:r>
              <a:rPr lang="en-US" sz="1100" dirty="0">
                <a:solidFill>
                  <a:srgbClr val="2E6E60"/>
                </a:solidFill>
                <a:latin typeface="Courier New" pitchFamily="34" charset="0"/>
                <a:ea typeface="Courier New" pitchFamily="34" charset="-122"/>
                <a:cs typeface="Courier New" pitchFamily="34" charset="-120"/>
              </a:rPr>
              <a:t># 馬ごとに1走ずらしてから集計</a:t>
            </a:r>
            <a:endParaRPr lang="en-US" sz="1100" dirty="0"/>
          </a:p>
          <a:p>
            <a:pPr marL="0" indent="0">
              <a:lnSpc>
                <a:spcPct val="130000"/>
              </a:lnSpc>
              <a:buNone/>
            </a:pPr>
            <a:r>
              <a:rPr lang="en-US" sz="1100" dirty="0">
                <a:solidFill>
                  <a:srgbClr val="1A1A1A"/>
                </a:solidFill>
                <a:latin typeface="Courier New" pitchFamily="34" charset="0"/>
                <a:ea typeface="Courier New" pitchFamily="34" charset="-122"/>
                <a:cs typeface="Courier New" pitchFamily="34" charset="-120"/>
              </a:rPr>
              <a:t>shifted = g["rank"].shift(1)</a:t>
            </a:r>
            <a:endParaRPr lang="en-US" sz="1100" dirty="0"/>
          </a:p>
          <a:p>
            <a:pPr marL="0" indent="0">
              <a:lnSpc>
                <a:spcPct val="130000"/>
              </a:lnSpc>
              <a:buNone/>
            </a:pPr>
            <a:r>
              <a:rPr lang="en-US" sz="1100" dirty="0">
                <a:solidFill>
                  <a:srgbClr val="1A1A1A"/>
                </a:solidFill>
                <a:latin typeface="Courier New" pitchFamily="34" charset="0"/>
                <a:ea typeface="Courier New" pitchFamily="34" charset="-122"/>
                <a:cs typeface="Courier New" pitchFamily="34" charset="-120"/>
              </a:rPr>
              <a:t>rank_rolling_3 =</a:t>
            </a:r>
            <a:endParaRPr lang="en-US" sz="1100" dirty="0"/>
          </a:p>
          <a:p>
            <a:pPr marL="0" indent="0">
              <a:lnSpc>
                <a:spcPct val="130000"/>
              </a:lnSpc>
              <a:buNone/>
            </a:pPr>
            <a:r>
              <a:rPr lang="en-US" sz="1100" dirty="0">
                <a:solidFill>
                  <a:srgbClr val="1A1A1A"/>
                </a:solidFill>
                <a:latin typeface="Courier New" pitchFamily="34" charset="0"/>
                <a:ea typeface="Courier New" pitchFamily="34" charset="-122"/>
                <a:cs typeface="Courier New" pitchFamily="34" charset="-120"/>
              </a:rPr>
              <a:t>  shifted.groupby(id)</a:t>
            </a:r>
            <a:endParaRPr lang="en-US" sz="1100" dirty="0"/>
          </a:p>
          <a:p>
            <a:pPr marL="0" indent="0">
              <a:lnSpc>
                <a:spcPct val="130000"/>
              </a:lnSpc>
              <a:buNone/>
            </a:pPr>
            <a:r>
              <a:rPr lang="en-US" sz="1100" dirty="0">
                <a:solidFill>
                  <a:srgbClr val="1A1A1A"/>
                </a:solidFill>
                <a:latin typeface="Courier New" pitchFamily="34" charset="0"/>
                <a:ea typeface="Courier New" pitchFamily="34" charset="-122"/>
                <a:cs typeface="Courier New" pitchFamily="34" charset="-120"/>
              </a:rPr>
              <a:t>  .rolling(3).mean()</a:t>
            </a:r>
            <a:endParaRPr lang="en-US" sz="1100" dirty="0"/>
          </a:p>
        </p:txBody>
      </p:sp>
      <p:sp>
        <p:nvSpPr>
          <p:cNvPr id="9" name="Text 7"/>
          <p:cNvSpPr/>
          <p:nvPr/>
        </p:nvSpPr>
        <p:spPr>
          <a:xfrm>
            <a:off x="4892040" y="1828800"/>
            <a:ext cx="3794760" cy="1737360"/>
          </a:xfrm>
          <a:prstGeom prst="rect">
            <a:avLst/>
          </a:prstGeom>
          <a:noFill/>
          <a:ln/>
        </p:spPr>
        <p:txBody>
          <a:bodyPr wrap="square" lIns="0" tIns="0" rIns="0" bIns="0" rtlCol="0" anchor="t"/>
          <a:lstStyle/>
          <a:p>
            <a:pPr marL="0" indent="0">
              <a:lnSpc>
                <a:spcPct val="135000"/>
              </a:lnSpc>
              <a:buNone/>
            </a:pPr>
            <a:r>
              <a:rPr lang="en-US" sz="1150" dirty="0">
                <a:solidFill>
                  <a:srgbClr val="2E6E60"/>
                </a:solidFill>
                <a:latin typeface="Hiragino Kaku Gothic ProN W6" pitchFamily="34" charset="0"/>
                <a:ea typeface="Hiragino Kaku Gothic ProN W6" pitchFamily="34" charset="-122"/>
                <a:cs typeface="Hiragino Kaku Gothic ProN W6" pitchFamily="34" charset="-120"/>
              </a:rPr>
              <a:t>なぜ二重のgroupbyが必要か</a:t>
            </a:r>
            <a:endParaRPr lang="en-US" sz="1150" dirty="0"/>
          </a:p>
          <a:p>
            <a:pPr marL="0" indent="0">
              <a:lnSpc>
                <a:spcPct val="13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shift後にもう一度馬IDでまとめないと、</a:t>
            </a:r>
            <a:endParaRPr lang="en-US" sz="1150" dirty="0"/>
          </a:p>
          <a:p>
            <a:pPr marL="0" indent="0">
              <a:lnSpc>
                <a:spcPct val="13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別の馬の履歴が混ざってしまいます。</a:t>
            </a:r>
            <a:endParaRPr lang="en-US" sz="1150" dirty="0"/>
          </a:p>
          <a:p>
            <a:pPr marL="0" indent="0">
              <a:lnSpc>
                <a:spcPct val="135000"/>
              </a:lnSpc>
              <a:buNone/>
            </a:pPr>
            <a:endParaRPr lang="en-US" sz="1150" dirty="0"/>
          </a:p>
          <a:p>
            <a:pPr marL="0" indent="0">
              <a:lnSpc>
                <a:spcPct val="135000"/>
              </a:lnSpc>
              <a:buNone/>
            </a:pPr>
            <a:r>
              <a:rPr lang="en-US" sz="1150" dirty="0">
                <a:solidFill>
                  <a:srgbClr val="2E6E60"/>
                </a:solidFill>
                <a:latin typeface="Hiragino Kaku Gothic ProN W6" pitchFamily="34" charset="0"/>
                <a:ea typeface="Hiragino Kaku Gothic ProN W6" pitchFamily="34" charset="-122"/>
                <a:cs typeface="Hiragino Kaku Gothic ProN W6" pitchFamily="34" charset="-120"/>
              </a:rPr>
              <a:t>統計量もtrain期間だけで計算</a:t>
            </a:r>
            <a:endParaRPr lang="en-US" sz="1150" dirty="0"/>
          </a:p>
          <a:p>
            <a:pPr marL="0" indent="0">
              <a:lnSpc>
                <a:spcPct val="13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騎手・種牡馬の成績率は学習期間のみで</a:t>
            </a:r>
            <a:endParaRPr lang="en-US" sz="1150" dirty="0"/>
          </a:p>
          <a:p>
            <a:pPr marL="0" indent="0">
              <a:lnSpc>
                <a:spcPct val="13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集計し、検証・テストは参照だけにします。</a:t>
            </a:r>
            <a:endParaRPr lang="en-US" sz="1150" dirty="0"/>
          </a:p>
        </p:txBody>
      </p:sp>
      <p:sp>
        <p:nvSpPr>
          <p:cNvPr id="10" name="Text 8"/>
          <p:cNvSpPr/>
          <p:nvPr/>
        </p:nvSpPr>
        <p:spPr>
          <a:xfrm>
            <a:off x="457200" y="3749040"/>
            <a:ext cx="8229600" cy="868680"/>
          </a:xfrm>
          <a:prstGeom prst="rect">
            <a:avLst/>
          </a:prstGeom>
          <a:noFill/>
          <a:ln/>
        </p:spPr>
        <p:txBody>
          <a:bodyPr wrap="square" lIns="0" tIns="0" rIns="0" bIns="0" rtlCol="0" anchor="ctr"/>
          <a:lstStyle/>
          <a:p>
            <a:pPr marL="0" indent="0">
              <a:lnSpc>
                <a:spcPct val="140000"/>
              </a:lnSpc>
              <a:buNone/>
            </a:pPr>
            <a:r>
              <a:rPr lang="en-US" sz="1100" dirty="0">
                <a:solidFill>
                  <a:srgbClr val="2E6E60"/>
                </a:solidFill>
                <a:latin typeface="Hiragino Kaku Gothic ProN W6" pitchFamily="34" charset="0"/>
                <a:ea typeface="Hiragino Kaku Gothic ProN W6" pitchFamily="34" charset="-122"/>
                <a:cs typeface="Hiragino Kaku Gothic ProN W6" pitchFamily="34" charset="-120"/>
              </a:rPr>
              <a:t>初出走馬の対策(コールドスタート)</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過去成績が存在しない新馬は、同じ父を持つ馬たちの平均値で補完します。</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血統は新馬に対して使える数少ない事前情報で、全体平均より情報量が多いためです。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DATA SPLIT</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データの分割 ― ランダムではなく時系列で切る</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同じ馬や同じ開催の情報が分割をまたいで漏れないよう、必ず時間軸で3分割します。</a:t>
            </a:r>
            <a:endParaRPr lang="en-US" sz="1050" dirty="0"/>
          </a:p>
        </p:txBody>
      </p:sp>
      <p:sp>
        <p:nvSpPr>
          <p:cNvPr id="7" name="Shape 5"/>
          <p:cNvSpPr/>
          <p:nvPr/>
        </p:nvSpPr>
        <p:spPr>
          <a:xfrm>
            <a:off x="457200" y="1874520"/>
            <a:ext cx="4480560" cy="457200"/>
          </a:xfrm>
          <a:prstGeom prst="rect">
            <a:avLst/>
          </a:prstGeom>
          <a:solidFill>
            <a:srgbClr val="3E8C7C"/>
          </a:solidFill>
          <a:ln/>
        </p:spPr>
        <p:txBody>
          <a:bodyPr/>
          <a:lstStyle/>
          <a:p>
            <a:endParaRPr lang="ja-JP" altLang="en-US"/>
          </a:p>
        </p:txBody>
      </p:sp>
      <p:sp>
        <p:nvSpPr>
          <p:cNvPr id="8" name="Text 6"/>
          <p:cNvSpPr/>
          <p:nvPr/>
        </p:nvSpPr>
        <p:spPr>
          <a:xfrm>
            <a:off x="457200" y="1874520"/>
            <a:ext cx="448056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Kaku Gothic ProN W6" pitchFamily="34" charset="0"/>
                <a:ea typeface="Hiragino Kaku Gothic ProN W6" pitchFamily="34" charset="-122"/>
                <a:cs typeface="Hiragino Kaku Gothic ProN W6" pitchFamily="34" charset="-120"/>
              </a:rPr>
              <a:t>train</a:t>
            </a:r>
            <a:endParaRPr lang="en-US" sz="1200" dirty="0"/>
          </a:p>
        </p:txBody>
      </p:sp>
      <p:sp>
        <p:nvSpPr>
          <p:cNvPr id="9" name="Text 7"/>
          <p:cNvSpPr/>
          <p:nvPr/>
        </p:nvSpPr>
        <p:spPr>
          <a:xfrm>
            <a:off x="457200" y="2377440"/>
            <a:ext cx="4480560" cy="502920"/>
          </a:xfrm>
          <a:prstGeom prst="rect">
            <a:avLst/>
          </a:prstGeom>
          <a:noFill/>
          <a:ln/>
        </p:spPr>
        <p:txBody>
          <a:bodyPr wrap="square" lIns="0" tIns="0" rIns="0" bIns="0" rtlCol="0" anchor="t"/>
          <a:lstStyle/>
          <a:p>
            <a:pPr marL="0" indent="0" algn="ctr">
              <a:lnSpc>
                <a:spcPct val="120000"/>
              </a:lnSpc>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1995〜2023年</a:t>
            </a:r>
            <a:endParaRPr lang="en-US" sz="1050" dirty="0"/>
          </a:p>
          <a:p>
            <a:pPr marL="0" indent="0" algn="ctr">
              <a:lnSpc>
                <a:spcPct val="120000"/>
              </a:lnSpc>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約139万行</a:t>
            </a:r>
            <a:endParaRPr lang="en-US" sz="1050" dirty="0"/>
          </a:p>
        </p:txBody>
      </p:sp>
      <p:sp>
        <p:nvSpPr>
          <p:cNvPr id="10" name="Shape 8"/>
          <p:cNvSpPr/>
          <p:nvPr/>
        </p:nvSpPr>
        <p:spPr>
          <a:xfrm>
            <a:off x="4937760" y="1874520"/>
            <a:ext cx="1783080" cy="457200"/>
          </a:xfrm>
          <a:prstGeom prst="rect">
            <a:avLst/>
          </a:prstGeom>
          <a:solidFill>
            <a:srgbClr val="6FA396"/>
          </a:solidFill>
          <a:ln/>
        </p:spPr>
        <p:txBody>
          <a:bodyPr/>
          <a:lstStyle/>
          <a:p>
            <a:endParaRPr lang="ja-JP" altLang="en-US"/>
          </a:p>
        </p:txBody>
      </p:sp>
      <p:sp>
        <p:nvSpPr>
          <p:cNvPr id="11" name="Text 9"/>
          <p:cNvSpPr/>
          <p:nvPr/>
        </p:nvSpPr>
        <p:spPr>
          <a:xfrm>
            <a:off x="4937760" y="1874520"/>
            <a:ext cx="1783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Kaku Gothic ProN W6" pitchFamily="34" charset="0"/>
                <a:ea typeface="Hiragino Kaku Gothic ProN W6" pitchFamily="34" charset="-122"/>
                <a:cs typeface="Hiragino Kaku Gothic ProN W6" pitchFamily="34" charset="-120"/>
              </a:rPr>
              <a:t>valid</a:t>
            </a:r>
            <a:endParaRPr lang="en-US" sz="1200" dirty="0"/>
          </a:p>
        </p:txBody>
      </p:sp>
      <p:sp>
        <p:nvSpPr>
          <p:cNvPr id="12" name="Text 10"/>
          <p:cNvSpPr/>
          <p:nvPr/>
        </p:nvSpPr>
        <p:spPr>
          <a:xfrm>
            <a:off x="4937760" y="2377440"/>
            <a:ext cx="1783080" cy="502920"/>
          </a:xfrm>
          <a:prstGeom prst="rect">
            <a:avLst/>
          </a:prstGeom>
          <a:noFill/>
          <a:ln/>
        </p:spPr>
        <p:txBody>
          <a:bodyPr wrap="square" lIns="0" tIns="0" rIns="0" bIns="0" rtlCol="0" anchor="t"/>
          <a:lstStyle/>
          <a:p>
            <a:pPr marL="0" indent="0" algn="ctr">
              <a:lnSpc>
                <a:spcPct val="120000"/>
              </a:lnSpc>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2024年1〜6月</a:t>
            </a:r>
            <a:endParaRPr lang="en-US" sz="1050" dirty="0"/>
          </a:p>
          <a:p>
            <a:pPr marL="0" indent="0" algn="ctr">
              <a:lnSpc>
                <a:spcPct val="120000"/>
              </a:lnSpc>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約2.5万行</a:t>
            </a:r>
            <a:endParaRPr lang="en-US" sz="1050" dirty="0"/>
          </a:p>
        </p:txBody>
      </p:sp>
      <p:sp>
        <p:nvSpPr>
          <p:cNvPr id="13" name="Shape 11"/>
          <p:cNvSpPr/>
          <p:nvPr/>
        </p:nvSpPr>
        <p:spPr>
          <a:xfrm>
            <a:off x="6720840" y="1874520"/>
            <a:ext cx="1965960" cy="457200"/>
          </a:xfrm>
          <a:prstGeom prst="rect">
            <a:avLst/>
          </a:prstGeom>
          <a:solidFill>
            <a:srgbClr val="A8CCC2"/>
          </a:solidFill>
          <a:ln/>
        </p:spPr>
        <p:txBody>
          <a:bodyPr/>
          <a:lstStyle/>
          <a:p>
            <a:endParaRPr lang="ja-JP" altLang="en-US"/>
          </a:p>
        </p:txBody>
      </p:sp>
      <p:sp>
        <p:nvSpPr>
          <p:cNvPr id="14" name="Text 12"/>
          <p:cNvSpPr/>
          <p:nvPr/>
        </p:nvSpPr>
        <p:spPr>
          <a:xfrm>
            <a:off x="6720840" y="1874520"/>
            <a:ext cx="196596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Hiragino Kaku Gothic ProN W6" pitchFamily="34" charset="0"/>
                <a:ea typeface="Hiragino Kaku Gothic ProN W6" pitchFamily="34" charset="-122"/>
                <a:cs typeface="Hiragino Kaku Gothic ProN W6" pitchFamily="34" charset="-120"/>
              </a:rPr>
              <a:t>test</a:t>
            </a:r>
            <a:endParaRPr lang="en-US" sz="1200" dirty="0"/>
          </a:p>
        </p:txBody>
      </p:sp>
      <p:sp>
        <p:nvSpPr>
          <p:cNvPr id="15" name="Text 13"/>
          <p:cNvSpPr/>
          <p:nvPr/>
        </p:nvSpPr>
        <p:spPr>
          <a:xfrm>
            <a:off x="6720840" y="2377440"/>
            <a:ext cx="1965960" cy="502920"/>
          </a:xfrm>
          <a:prstGeom prst="rect">
            <a:avLst/>
          </a:prstGeom>
          <a:noFill/>
          <a:ln/>
        </p:spPr>
        <p:txBody>
          <a:bodyPr wrap="square" lIns="0" tIns="0" rIns="0" bIns="0" rtlCol="0" anchor="t"/>
          <a:lstStyle/>
          <a:p>
            <a:pPr marL="0" indent="0" algn="ctr">
              <a:lnSpc>
                <a:spcPct val="120000"/>
              </a:lnSpc>
              <a:buNone/>
            </a:pPr>
            <a:r>
              <a:rPr lang="en-US" sz="1050" dirty="0">
                <a:solidFill>
                  <a:srgbClr val="1A1A1A"/>
                </a:solidFill>
                <a:latin typeface="Hiragino Kaku Gothic ProN W6" pitchFamily="34" charset="0"/>
                <a:ea typeface="Hiragino Kaku Gothic ProN W6" pitchFamily="34" charset="-122"/>
                <a:cs typeface="Hiragino Kaku Gothic ProN W6" pitchFamily="34" charset="-120"/>
              </a:rPr>
              <a:t>2024年7月〜2025年9月</a:t>
            </a:r>
            <a:endParaRPr lang="en-US" sz="1050" dirty="0"/>
          </a:p>
          <a:p>
            <a:pPr marL="0" indent="0" algn="ctr">
              <a:lnSpc>
                <a:spcPct val="120000"/>
              </a:lnSpc>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約5.7万行</a:t>
            </a:r>
            <a:endParaRPr lang="en-US" sz="1050" dirty="0"/>
          </a:p>
        </p:txBody>
      </p:sp>
      <p:sp>
        <p:nvSpPr>
          <p:cNvPr id="16" name="Text 14"/>
          <p:cNvSpPr/>
          <p:nvPr/>
        </p:nvSpPr>
        <p:spPr>
          <a:xfrm>
            <a:off x="457200" y="3154680"/>
            <a:ext cx="8229600" cy="310896"/>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train  </a:t>
            </a: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モデルの学習と、騎手・種牡馬統計量の集計に使用します。</a:t>
            </a:r>
            <a:endParaRPr lang="en-US" sz="1050" dirty="0"/>
          </a:p>
        </p:txBody>
      </p:sp>
      <p:sp>
        <p:nvSpPr>
          <p:cNvPr id="17" name="Text 15"/>
          <p:cNvSpPr/>
          <p:nvPr/>
        </p:nvSpPr>
        <p:spPr>
          <a:xfrm>
            <a:off x="457200" y="3520440"/>
            <a:ext cx="8229600" cy="310896"/>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valid  </a:t>
            </a: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Optunaのハイパーパラメータ選択と、確率校正(前半で校正・後半で評価)に使用します。</a:t>
            </a:r>
            <a:endParaRPr lang="en-US" sz="1050" dirty="0"/>
          </a:p>
        </p:txBody>
      </p:sp>
      <p:sp>
        <p:nvSpPr>
          <p:cNvPr id="18" name="Text 16"/>
          <p:cNvSpPr/>
          <p:nvPr/>
        </p:nvSpPr>
        <p:spPr>
          <a:xfrm>
            <a:off x="457200" y="3886200"/>
            <a:ext cx="8229600" cy="310896"/>
          </a:xfrm>
          <a:prstGeom prst="rect">
            <a:avLst/>
          </a:prstGeom>
          <a:noFill/>
          <a:ln/>
        </p:spPr>
        <p:txBody>
          <a:bodyPr wrap="square" lIns="0" tIns="0" rIns="0" bIns="0" rtlCol="0" anchor="ctr"/>
          <a:lstStyle/>
          <a:p>
            <a:pPr marL="0" indent="0">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test  </a:t>
            </a: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最終評価と投票戦略のバックテスト専用。学習にもチューニングにも一切使いません。</a:t>
            </a:r>
            <a:endParaRPr lang="en-US" sz="1050" dirty="0"/>
          </a:p>
        </p:txBody>
      </p:sp>
      <p:sp>
        <p:nvSpPr>
          <p:cNvPr id="19" name="Shape 17"/>
          <p:cNvSpPr/>
          <p:nvPr/>
        </p:nvSpPr>
        <p:spPr>
          <a:xfrm>
            <a:off x="457200" y="4480560"/>
            <a:ext cx="82296" cy="82296"/>
          </a:xfrm>
          <a:prstGeom prst="rect">
            <a:avLst/>
          </a:prstGeom>
          <a:solidFill>
            <a:srgbClr val="3E8C7C"/>
          </a:solidFill>
          <a:ln/>
        </p:spPr>
        <p:txBody>
          <a:bodyPr/>
          <a:lstStyle/>
          <a:p>
            <a:endParaRPr lang="ja-JP" altLang="en-US"/>
          </a:p>
        </p:txBody>
      </p:sp>
      <p:sp>
        <p:nvSpPr>
          <p:cNvPr id="20" name="Text 18"/>
          <p:cNvSpPr/>
          <p:nvPr/>
        </p:nvSpPr>
        <p:spPr>
          <a:xfrm>
            <a:off x="603504" y="438912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ローリング特徴量を年またぎで正しく計算するため、変換は3分割を縦結合して一度に行い、後から切り直します。</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TRAINING</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学習 ― Optuna探索と確率校正の2段構え</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「順位が当たる」だけでなく「確率の値が信じられる」状態まで仕上げることを学習のゴールにしています。</a:t>
            </a:r>
            <a:endParaRPr lang="en-US" sz="1050" dirty="0"/>
          </a:p>
        </p:txBody>
      </p:sp>
      <p:sp>
        <p:nvSpPr>
          <p:cNvPr id="7" name="Text 5"/>
          <p:cNvSpPr/>
          <p:nvPr/>
        </p:nvSpPr>
        <p:spPr>
          <a:xfrm>
            <a:off x="457200" y="1783080"/>
            <a:ext cx="685800" cy="530352"/>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01</a:t>
            </a:r>
            <a:endParaRPr lang="en-US" sz="2200" dirty="0"/>
          </a:p>
        </p:txBody>
      </p:sp>
      <p:sp>
        <p:nvSpPr>
          <p:cNvPr id="8" name="Text 6"/>
          <p:cNvSpPr/>
          <p:nvPr/>
        </p:nvSpPr>
        <p:spPr>
          <a:xfrm>
            <a:off x="1234440" y="1783080"/>
            <a:ext cx="7406640" cy="530352"/>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Optuna 20試行</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学習率・木の複雑さ・正則化を探索し、validのBrierスコア最小の組を採用します。</a:t>
            </a:r>
            <a:endParaRPr lang="en-US" sz="1150" dirty="0"/>
          </a:p>
        </p:txBody>
      </p:sp>
      <p:sp>
        <p:nvSpPr>
          <p:cNvPr id="9" name="Text 7"/>
          <p:cNvSpPr/>
          <p:nvPr/>
        </p:nvSpPr>
        <p:spPr>
          <a:xfrm>
            <a:off x="457200" y="2386584"/>
            <a:ext cx="685800" cy="530352"/>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02</a:t>
            </a:r>
            <a:endParaRPr lang="en-US" sz="2200" dirty="0"/>
          </a:p>
        </p:txBody>
      </p:sp>
      <p:sp>
        <p:nvSpPr>
          <p:cNvPr id="10" name="Text 8"/>
          <p:cNvSpPr/>
          <p:nvPr/>
        </p:nvSpPr>
        <p:spPr>
          <a:xfrm>
            <a:off x="1234440" y="2386584"/>
            <a:ext cx="7406640" cy="530352"/>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early stopping</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検証誤差が100回改善しなければ打ち切り。過学習した木を積まないようにします。</a:t>
            </a:r>
            <a:endParaRPr lang="en-US" sz="1150" dirty="0"/>
          </a:p>
        </p:txBody>
      </p:sp>
      <p:sp>
        <p:nvSpPr>
          <p:cNvPr id="11" name="Text 9"/>
          <p:cNvSpPr/>
          <p:nvPr/>
        </p:nvSpPr>
        <p:spPr>
          <a:xfrm>
            <a:off x="457200" y="2990088"/>
            <a:ext cx="685800" cy="530352"/>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03</a:t>
            </a:r>
            <a:endParaRPr lang="en-US" sz="2200" dirty="0"/>
          </a:p>
        </p:txBody>
      </p:sp>
      <p:sp>
        <p:nvSpPr>
          <p:cNvPr id="12" name="Text 10"/>
          <p:cNvSpPr/>
          <p:nvPr/>
        </p:nvSpPr>
        <p:spPr>
          <a:xfrm>
            <a:off x="1234440" y="2990088"/>
            <a:ext cx="7406640" cy="530352"/>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全量で再学習</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選んだ設定と木の本数を固定し、train+validを使い切って最終モデルを作ります。</a:t>
            </a:r>
            <a:endParaRPr lang="en-US" sz="1150" dirty="0"/>
          </a:p>
        </p:txBody>
      </p:sp>
      <p:sp>
        <p:nvSpPr>
          <p:cNvPr id="13" name="Text 11"/>
          <p:cNvSpPr/>
          <p:nvPr/>
        </p:nvSpPr>
        <p:spPr>
          <a:xfrm>
            <a:off x="457200" y="3593592"/>
            <a:ext cx="685800" cy="530352"/>
          </a:xfrm>
          <a:prstGeom prst="rect">
            <a:avLst/>
          </a:prstGeom>
          <a:noFill/>
          <a:ln/>
        </p:spPr>
        <p:txBody>
          <a:bodyPr wrap="square" lIns="0" tIns="0" rIns="0" bIns="0" rtlCol="0" anchor="ctr"/>
          <a:lstStyle/>
          <a:p>
            <a:pPr marL="0" indent="0">
              <a:buNone/>
            </a:pPr>
            <a:r>
              <a:rPr lang="en-US" sz="2200" dirty="0">
                <a:solidFill>
                  <a:srgbClr val="3E8C7C"/>
                </a:solidFill>
                <a:latin typeface="Hiragino Kaku Gothic ProN W6" pitchFamily="34" charset="0"/>
                <a:ea typeface="Hiragino Kaku Gothic ProN W6" pitchFamily="34" charset="-122"/>
                <a:cs typeface="Hiragino Kaku Gothic ProN W6" pitchFamily="34" charset="-120"/>
              </a:rPr>
              <a:t>04</a:t>
            </a:r>
            <a:endParaRPr lang="en-US" sz="2200" dirty="0"/>
          </a:p>
        </p:txBody>
      </p:sp>
      <p:sp>
        <p:nvSpPr>
          <p:cNvPr id="14" name="Text 12"/>
          <p:cNvSpPr/>
          <p:nvPr/>
        </p:nvSpPr>
        <p:spPr>
          <a:xfrm>
            <a:off x="1234440" y="3593592"/>
            <a:ext cx="7406640" cy="530352"/>
          </a:xfrm>
          <a:prstGeom prst="rect">
            <a:avLst/>
          </a:prstGeom>
          <a:noFill/>
          <a:ln/>
        </p:spPr>
        <p:txBody>
          <a:bodyPr wrap="square" lIns="0" tIns="0" rIns="0" bIns="0" rtlCol="0" anchor="ctr"/>
          <a:lstStyle/>
          <a:p>
            <a:pPr marL="0" indent="0">
              <a:lnSpc>
                <a:spcPct val="125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Isotonic校正</a:t>
            </a:r>
            <a:endParaRPr lang="en-US" sz="1150" dirty="0"/>
          </a:p>
          <a:p>
            <a:pPr marL="0" indent="0">
              <a:lnSpc>
                <a:spcPct val="125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検証前半で単調回帰を当て、モデルの過信を実際の的中率スケールに補正します。</a:t>
            </a:r>
            <a:endParaRPr lang="en-US" sz="1150" dirty="0"/>
          </a:p>
        </p:txBody>
      </p:sp>
      <p:sp>
        <p:nvSpPr>
          <p:cNvPr id="15" name="Shape 13"/>
          <p:cNvSpPr/>
          <p:nvPr/>
        </p:nvSpPr>
        <p:spPr>
          <a:xfrm>
            <a:off x="457200" y="4434840"/>
            <a:ext cx="82296" cy="82296"/>
          </a:xfrm>
          <a:prstGeom prst="rect">
            <a:avLst/>
          </a:prstGeom>
          <a:solidFill>
            <a:srgbClr val="3E8C7C"/>
          </a:solidFill>
          <a:ln/>
        </p:spPr>
        <p:txBody>
          <a:bodyPr/>
          <a:lstStyle/>
          <a:p>
            <a:endParaRPr lang="ja-JP" altLang="en-US"/>
          </a:p>
        </p:txBody>
      </p:sp>
      <p:sp>
        <p:nvSpPr>
          <p:cNvPr id="16" name="Text 14"/>
          <p:cNvSpPr/>
          <p:nvPr/>
        </p:nvSpPr>
        <p:spPr>
          <a:xfrm>
            <a:off x="603504" y="434340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校正の効果は大きく、不均衡補正で0.07〜0.14に圧縮されていた確率が0.00〜0.36の実スケールに展開されました。</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EVALUATION 1/2</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テスト予測・評価 ― モデルの実力を数字で確認</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test期間4,173レースで、モデルが最有力とした馬(top-1)の成績を検証しました。</a:t>
            </a:r>
            <a:endParaRPr lang="en-US" sz="1050" dirty="0"/>
          </a:p>
        </p:txBody>
      </p:sp>
      <p:sp>
        <p:nvSpPr>
          <p:cNvPr id="7" name="Shape 5"/>
          <p:cNvSpPr/>
          <p:nvPr/>
        </p:nvSpPr>
        <p:spPr>
          <a:xfrm>
            <a:off x="457200" y="1783080"/>
            <a:ext cx="2651760" cy="1371600"/>
          </a:xfrm>
          <a:prstGeom prst="rect">
            <a:avLst/>
          </a:prstGeom>
          <a:solidFill>
            <a:srgbClr val="E0EDE8"/>
          </a:solidFill>
          <a:ln/>
        </p:spPr>
        <p:txBody>
          <a:bodyPr/>
          <a:lstStyle/>
          <a:p>
            <a:endParaRPr lang="ja-JP" altLang="en-US"/>
          </a:p>
        </p:txBody>
      </p:sp>
      <p:sp>
        <p:nvSpPr>
          <p:cNvPr id="8" name="Text 6"/>
          <p:cNvSpPr/>
          <p:nvPr/>
        </p:nvSpPr>
        <p:spPr>
          <a:xfrm>
            <a:off x="59436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23.6%</a:t>
            </a:r>
            <a:endParaRPr lang="en-US" sz="1900" dirty="0"/>
          </a:p>
        </p:txBody>
      </p:sp>
      <p:sp>
        <p:nvSpPr>
          <p:cNvPr id="9" name="Text 7"/>
          <p:cNvSpPr/>
          <p:nvPr/>
        </p:nvSpPr>
        <p:spPr>
          <a:xfrm>
            <a:off x="59436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top-1の勝率</a:t>
            </a:r>
            <a:endParaRPr lang="en-US" sz="1050" dirty="0"/>
          </a:p>
        </p:txBody>
      </p:sp>
      <p:sp>
        <p:nvSpPr>
          <p:cNvPr id="10" name="Text 8"/>
          <p:cNvSpPr/>
          <p:nvPr/>
        </p:nvSpPr>
        <p:spPr>
          <a:xfrm>
            <a:off x="594360" y="2532888"/>
            <a:ext cx="2377440" cy="54864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JRA平均勝率の約3.5倍。</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順位付けの能力は十分に</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確認できました</a:t>
            </a:r>
            <a:endParaRPr lang="en-US" sz="1050" dirty="0"/>
          </a:p>
        </p:txBody>
      </p:sp>
      <p:sp>
        <p:nvSpPr>
          <p:cNvPr id="11" name="Shape 9"/>
          <p:cNvSpPr/>
          <p:nvPr/>
        </p:nvSpPr>
        <p:spPr>
          <a:xfrm>
            <a:off x="3246120" y="1783080"/>
            <a:ext cx="2651760" cy="1371600"/>
          </a:xfrm>
          <a:prstGeom prst="rect">
            <a:avLst/>
          </a:prstGeom>
          <a:solidFill>
            <a:srgbClr val="E0EDE8"/>
          </a:solidFill>
          <a:ln/>
        </p:spPr>
        <p:txBody>
          <a:bodyPr/>
          <a:lstStyle/>
          <a:p>
            <a:endParaRPr lang="ja-JP" altLang="en-US"/>
          </a:p>
        </p:txBody>
      </p:sp>
      <p:sp>
        <p:nvSpPr>
          <p:cNvPr id="12" name="Text 10"/>
          <p:cNvSpPr/>
          <p:nvPr/>
        </p:nvSpPr>
        <p:spPr>
          <a:xfrm>
            <a:off x="338328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AUC 0.744</a:t>
            </a:r>
            <a:endParaRPr lang="en-US" sz="1900" dirty="0"/>
          </a:p>
        </p:txBody>
      </p:sp>
      <p:sp>
        <p:nvSpPr>
          <p:cNvPr id="13" name="Text 11"/>
          <p:cNvSpPr/>
          <p:nvPr/>
        </p:nvSpPr>
        <p:spPr>
          <a:xfrm>
            <a:off x="338328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単勝ヘッド (test)</a:t>
            </a:r>
            <a:endParaRPr lang="en-US" sz="1050" dirty="0"/>
          </a:p>
        </p:txBody>
      </p:sp>
      <p:sp>
        <p:nvSpPr>
          <p:cNvPr id="14" name="Text 12"/>
          <p:cNvSpPr/>
          <p:nvPr/>
        </p:nvSpPr>
        <p:spPr>
          <a:xfrm>
            <a:off x="3383280" y="2532888"/>
            <a:ext cx="2377440" cy="54864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複勝ヘッドはAUC 0.768。</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校正後Brierは0.064まで</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改善しています</a:t>
            </a:r>
            <a:endParaRPr lang="en-US" sz="1050" dirty="0"/>
          </a:p>
        </p:txBody>
      </p:sp>
      <p:sp>
        <p:nvSpPr>
          <p:cNvPr id="15" name="Shape 13"/>
          <p:cNvSpPr/>
          <p:nvPr/>
        </p:nvSpPr>
        <p:spPr>
          <a:xfrm>
            <a:off x="6035040" y="1783080"/>
            <a:ext cx="2651760" cy="1371600"/>
          </a:xfrm>
          <a:prstGeom prst="rect">
            <a:avLst/>
          </a:prstGeom>
          <a:solidFill>
            <a:srgbClr val="E0EDE8"/>
          </a:solidFill>
          <a:ln/>
        </p:spPr>
        <p:txBody>
          <a:bodyPr/>
          <a:lstStyle/>
          <a:p>
            <a:endParaRPr lang="ja-JP" altLang="en-US"/>
          </a:p>
        </p:txBody>
      </p:sp>
      <p:sp>
        <p:nvSpPr>
          <p:cNvPr id="16" name="Text 14"/>
          <p:cNvSpPr/>
          <p:nvPr/>
        </p:nvSpPr>
        <p:spPr>
          <a:xfrm>
            <a:off x="6172200" y="1874520"/>
            <a:ext cx="2377440" cy="384048"/>
          </a:xfrm>
          <a:prstGeom prst="rect">
            <a:avLst/>
          </a:prstGeom>
          <a:noFill/>
          <a:ln/>
        </p:spPr>
        <p:txBody>
          <a:bodyPr wrap="square" lIns="0" tIns="0" rIns="0" bIns="0" rtlCol="0" anchor="ctr"/>
          <a:lstStyle/>
          <a:p>
            <a:pPr marL="0" indent="0" algn="l">
              <a:buNone/>
            </a:pPr>
            <a:r>
              <a:rPr lang="en-US" sz="1900" dirty="0">
                <a:solidFill>
                  <a:srgbClr val="1A1A1A"/>
                </a:solidFill>
                <a:latin typeface="Hiragino Kaku Gothic ProN W6" pitchFamily="34" charset="0"/>
                <a:ea typeface="Hiragino Kaku Gothic ProN W6" pitchFamily="34" charset="-122"/>
                <a:cs typeface="Hiragino Kaku Gothic ProN W6" pitchFamily="34" charset="-120"/>
              </a:rPr>
              <a:t>全帯マイナス</a:t>
            </a:r>
            <a:endParaRPr lang="en-US" sz="1900" dirty="0"/>
          </a:p>
        </p:txBody>
      </p:sp>
      <p:sp>
        <p:nvSpPr>
          <p:cNvPr id="17" name="Text 15"/>
          <p:cNvSpPr/>
          <p:nvPr/>
        </p:nvSpPr>
        <p:spPr>
          <a:xfrm>
            <a:off x="6172200" y="2286000"/>
            <a:ext cx="2377440" cy="237744"/>
          </a:xfrm>
          <a:prstGeom prst="rect">
            <a:avLst/>
          </a:prstGeom>
          <a:noFill/>
          <a:ln/>
        </p:spPr>
        <p:txBody>
          <a:bodyPr wrap="square" lIns="0" tIns="0" rIns="0" bIns="0" rtlCol="0" anchor="ctr"/>
          <a:lstStyle/>
          <a:p>
            <a:pPr marL="0" indent="0" algn="l">
              <a:buNone/>
            </a:pPr>
            <a:r>
              <a:rPr lang="en-US" sz="1050" dirty="0">
                <a:solidFill>
                  <a:srgbClr val="2E6E60"/>
                </a:solidFill>
                <a:latin typeface="Hiragino Kaku Gothic ProN W6" pitchFamily="34" charset="0"/>
                <a:ea typeface="Hiragino Kaku Gothic ProN W6" pitchFamily="34" charset="-122"/>
                <a:cs typeface="Hiragino Kaku Gothic ProN W6" pitchFamily="34" charset="-120"/>
              </a:rPr>
              <a:t>フラット投票のROI</a:t>
            </a:r>
            <a:endParaRPr lang="en-US" sz="1050" dirty="0"/>
          </a:p>
        </p:txBody>
      </p:sp>
      <p:sp>
        <p:nvSpPr>
          <p:cNvPr id="18" name="Text 16"/>
          <p:cNvSpPr/>
          <p:nvPr/>
        </p:nvSpPr>
        <p:spPr>
          <a:xfrm>
            <a:off x="6172200" y="2532888"/>
            <a:ext cx="2377440" cy="548640"/>
          </a:xfrm>
          <a:prstGeom prst="rect">
            <a:avLst/>
          </a:prstGeom>
          <a:noFill/>
          <a:ln/>
        </p:spPr>
        <p:txBody>
          <a:bodyPr wrap="square" lIns="0" tIns="0" rIns="0" bIns="0" rtlCol="0" anchor="t"/>
          <a:lstStyle/>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ただし控除率20%の壁は</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超えられず。ここが戦略</a:t>
            </a:r>
            <a:endParaRPr lang="en-US" sz="1050" dirty="0"/>
          </a:p>
          <a:p>
            <a:pPr marL="0" indent="0" algn="l">
              <a:buNone/>
            </a:pPr>
            <a:r>
              <a:rPr lang="en-US" sz="1050" dirty="0">
                <a:solidFill>
                  <a:srgbClr val="666666"/>
                </a:solidFill>
                <a:latin typeface="Hiragino Kaku Gothic ProN W3" pitchFamily="34" charset="0"/>
                <a:ea typeface="Hiragino Kaku Gothic ProN W3" pitchFamily="34" charset="-122"/>
                <a:cs typeface="Hiragino Kaku Gothic ProN W3" pitchFamily="34" charset="-120"/>
              </a:rPr>
              <a:t>設計の出発点になります</a:t>
            </a:r>
            <a:endParaRPr lang="en-US" sz="1050" dirty="0"/>
          </a:p>
        </p:txBody>
      </p:sp>
      <p:sp>
        <p:nvSpPr>
          <p:cNvPr id="19" name="Text 17"/>
          <p:cNvSpPr/>
          <p:nvPr/>
        </p:nvSpPr>
        <p:spPr>
          <a:xfrm>
            <a:off x="457200" y="3383280"/>
            <a:ext cx="8229600" cy="914400"/>
          </a:xfrm>
          <a:prstGeom prst="rect">
            <a:avLst/>
          </a:prstGeom>
          <a:noFill/>
          <a:ln/>
        </p:spPr>
        <p:txBody>
          <a:bodyPr wrap="square" lIns="0" tIns="0" rIns="0" bIns="0" rtlCol="0" anchor="ctr"/>
          <a:lstStyle/>
          <a:p>
            <a:pPr marL="0" indent="0">
              <a:lnSpc>
                <a:spcPct val="140000"/>
              </a:lnSpc>
              <a:buNone/>
            </a:pPr>
            <a:r>
              <a:rPr lang="en-US" sz="1100" dirty="0">
                <a:solidFill>
                  <a:srgbClr val="2E6E60"/>
                </a:solidFill>
                <a:latin typeface="Hiragino Kaku Gothic ProN W6" pitchFamily="34" charset="0"/>
                <a:ea typeface="Hiragino Kaku Gothic ProN W6" pitchFamily="34" charset="-122"/>
                <a:cs typeface="Hiragino Kaku Gothic ProN W6" pitchFamily="34" charset="-120"/>
              </a:rPr>
              <a:t>オッズ帯別のROI (top-1にフラット投票した場合)</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1.0〜1.5倍の圧倒的人気帯が-13.6%と最小の損失で、7倍を超えると-40%前後まで悪化します。</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「人気馬は過小評価されやすい」というfavorite-longshotバイアスと整合する結果でした。</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EVALUATION 2/2</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投票戦略の検証 ― 制約下の損失最小化へ転換</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評価結果を受け、戦略は「勝ちを狙う」から「義務投票の損失を最小化して相対上位を取る」に切り替えました。</a:t>
            </a:r>
            <a:endParaRPr lang="en-US" sz="1050" dirty="0"/>
          </a:p>
        </p:txBody>
      </p:sp>
      <p:sp>
        <p:nvSpPr>
          <p:cNvPr id="7" name="Shape 5"/>
          <p:cNvSpPr/>
          <p:nvPr/>
        </p:nvSpPr>
        <p:spPr>
          <a:xfrm>
            <a:off x="457200" y="1828800"/>
            <a:ext cx="4023360" cy="1600200"/>
          </a:xfrm>
          <a:prstGeom prst="rect">
            <a:avLst/>
          </a:prstGeom>
          <a:solidFill>
            <a:srgbClr val="FFFFFF"/>
          </a:solidFill>
          <a:ln w="9525">
            <a:solidFill>
              <a:srgbClr val="CCCCCC"/>
            </a:solidFill>
            <a:prstDash val="solid"/>
          </a:ln>
        </p:spPr>
        <p:txBody>
          <a:bodyPr/>
          <a:lstStyle/>
          <a:p>
            <a:endParaRPr lang="ja-JP" altLang="en-US"/>
          </a:p>
        </p:txBody>
      </p:sp>
      <p:sp>
        <p:nvSpPr>
          <p:cNvPr id="8" name="Shape 6"/>
          <p:cNvSpPr/>
          <p:nvPr/>
        </p:nvSpPr>
        <p:spPr>
          <a:xfrm>
            <a:off x="457200" y="1828800"/>
            <a:ext cx="4023360" cy="64008"/>
          </a:xfrm>
          <a:prstGeom prst="rect">
            <a:avLst/>
          </a:prstGeom>
          <a:solidFill>
            <a:srgbClr val="3E8C7C"/>
          </a:solidFill>
          <a:ln/>
        </p:spPr>
        <p:txBody>
          <a:bodyPr/>
          <a:lstStyle/>
          <a:p>
            <a:endParaRPr lang="ja-JP" altLang="en-US"/>
          </a:p>
        </p:txBody>
      </p:sp>
      <p:sp>
        <p:nvSpPr>
          <p:cNvPr id="9" name="Text 7"/>
          <p:cNvSpPr/>
          <p:nvPr/>
        </p:nvSpPr>
        <p:spPr>
          <a:xfrm>
            <a:off x="640080" y="2011680"/>
            <a:ext cx="3703320" cy="1325880"/>
          </a:xfrm>
          <a:prstGeom prst="rect">
            <a:avLst/>
          </a:prstGeom>
          <a:noFill/>
          <a:ln/>
        </p:spPr>
        <p:txBody>
          <a:bodyPr wrap="square" lIns="0" tIns="0" rIns="0" bIns="0" rtlCol="0" anchor="t"/>
          <a:lstStyle/>
          <a:p>
            <a:pPr marL="0" indent="0">
              <a:lnSpc>
                <a:spcPct val="135000"/>
              </a:lnSpc>
              <a:buNone/>
            </a:pPr>
            <a:r>
              <a:rPr lang="en-US" sz="1200" dirty="0">
                <a:solidFill>
                  <a:srgbClr val="2E6E60"/>
                </a:solidFill>
                <a:latin typeface="Hiragino Kaku Gothic ProN W6" pitchFamily="34" charset="0"/>
                <a:ea typeface="Hiragino Kaku Gothic ProN W6" pitchFamily="34" charset="-122"/>
                <a:cs typeface="Hiragino Kaku Gothic ProN W6" pitchFamily="34" charset="-120"/>
              </a:rPr>
              <a:t>最低額レイヤー</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全レースのtop-1に100ptずつ投票し、</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96レース制約を合計約3万ptで消化。</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損失は期間全体で約1万ptに収まります。</a:t>
            </a:r>
            <a:endParaRPr lang="en-US" sz="1200" dirty="0"/>
          </a:p>
        </p:txBody>
      </p:sp>
      <p:sp>
        <p:nvSpPr>
          <p:cNvPr id="10" name="Shape 8"/>
          <p:cNvSpPr/>
          <p:nvPr/>
        </p:nvSpPr>
        <p:spPr>
          <a:xfrm>
            <a:off x="4663440" y="1828800"/>
            <a:ext cx="4023360" cy="1600200"/>
          </a:xfrm>
          <a:prstGeom prst="rect">
            <a:avLst/>
          </a:prstGeom>
          <a:solidFill>
            <a:srgbClr val="FFFFFF"/>
          </a:solidFill>
          <a:ln w="9525">
            <a:solidFill>
              <a:srgbClr val="CCCCCC"/>
            </a:solidFill>
            <a:prstDash val="solid"/>
          </a:ln>
        </p:spPr>
        <p:txBody>
          <a:bodyPr/>
          <a:lstStyle/>
          <a:p>
            <a:endParaRPr lang="ja-JP" altLang="en-US"/>
          </a:p>
        </p:txBody>
      </p:sp>
      <p:sp>
        <p:nvSpPr>
          <p:cNvPr id="11" name="Shape 9"/>
          <p:cNvSpPr/>
          <p:nvPr/>
        </p:nvSpPr>
        <p:spPr>
          <a:xfrm>
            <a:off x="4663440" y="1828800"/>
            <a:ext cx="4023360" cy="64008"/>
          </a:xfrm>
          <a:prstGeom prst="rect">
            <a:avLst/>
          </a:prstGeom>
          <a:solidFill>
            <a:srgbClr val="3E8C7C"/>
          </a:solidFill>
          <a:ln/>
        </p:spPr>
        <p:txBody>
          <a:bodyPr/>
          <a:lstStyle/>
          <a:p>
            <a:endParaRPr lang="ja-JP" altLang="en-US"/>
          </a:p>
        </p:txBody>
      </p:sp>
      <p:sp>
        <p:nvSpPr>
          <p:cNvPr id="12" name="Text 10"/>
          <p:cNvSpPr/>
          <p:nvPr/>
        </p:nvSpPr>
        <p:spPr>
          <a:xfrm>
            <a:off x="4846320" y="2011680"/>
            <a:ext cx="3703320" cy="1325880"/>
          </a:xfrm>
          <a:prstGeom prst="rect">
            <a:avLst/>
          </a:prstGeom>
          <a:noFill/>
          <a:ln/>
        </p:spPr>
        <p:txBody>
          <a:bodyPr wrap="square" lIns="0" tIns="0" rIns="0" bIns="0" rtlCol="0" anchor="t"/>
          <a:lstStyle/>
          <a:p>
            <a:pPr marL="0" indent="0">
              <a:lnSpc>
                <a:spcPct val="135000"/>
              </a:lnSpc>
              <a:buNone/>
            </a:pPr>
            <a:r>
              <a:rPr lang="en-US" sz="1200" dirty="0">
                <a:solidFill>
                  <a:srgbClr val="2E6E60"/>
                </a:solidFill>
                <a:latin typeface="Hiragino Kaku Gothic ProN W6" pitchFamily="34" charset="0"/>
                <a:ea typeface="Hiragino Kaku Gothic ProN W6" pitchFamily="34" charset="-122"/>
                <a:cs typeface="Hiragino Kaku Gothic ProN W6" pitchFamily="34" charset="-120"/>
              </a:rPr>
              <a:t>集中投下レイヤー</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直前オッズ1.5倍以下の圧倒的人気馬に</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限り約2.5万ptの大口投票。義務の50万pt</a:t>
            </a:r>
            <a:endParaRPr lang="en-US" sz="1200" dirty="0"/>
          </a:p>
          <a:p>
            <a:pPr marL="0" indent="0">
              <a:lnSpc>
                <a:spcPct val="135000"/>
              </a:lnSpc>
              <a:buNone/>
            </a:pPr>
            <a:r>
              <a:rPr lang="en-US" sz="1050" dirty="0">
                <a:solidFill>
                  <a:srgbClr val="000000"/>
                </a:solidFill>
                <a:latin typeface="Hiragino Kaku Gothic ProN W3" pitchFamily="34" charset="0"/>
                <a:ea typeface="Hiragino Kaku Gothic ProN W3" pitchFamily="34" charset="-122"/>
                <a:cs typeface="Hiragino Kaku Gothic ProN W3" pitchFamily="34" charset="-120"/>
              </a:rPr>
              <a:t>を最も損失が小さい帯に配置します。</a:t>
            </a:r>
            <a:endParaRPr lang="en-US" sz="1200" dirty="0"/>
          </a:p>
        </p:txBody>
      </p:sp>
      <p:sp>
        <p:nvSpPr>
          <p:cNvPr id="13" name="Text 11"/>
          <p:cNvSpPr/>
          <p:nvPr/>
        </p:nvSpPr>
        <p:spPr>
          <a:xfrm>
            <a:off x="457200" y="3611880"/>
            <a:ext cx="8229600" cy="1005840"/>
          </a:xfrm>
          <a:prstGeom prst="rect">
            <a:avLst/>
          </a:prstGeom>
          <a:noFill/>
          <a:ln/>
        </p:spPr>
        <p:txBody>
          <a:bodyPr wrap="square" lIns="0" tIns="0" rIns="0" bIns="0" rtlCol="0" anchor="ctr"/>
          <a:lstStyle/>
          <a:p>
            <a:pPr marL="0" indent="0">
              <a:lnSpc>
                <a:spcPct val="140000"/>
              </a:lnSpc>
              <a:buNone/>
            </a:pPr>
            <a:r>
              <a:rPr lang="en-US" sz="1100" dirty="0">
                <a:solidFill>
                  <a:srgbClr val="2E6E60"/>
                </a:solidFill>
                <a:latin typeface="Hiragino Kaku Gothic ProN W6" pitchFamily="34" charset="0"/>
                <a:ea typeface="Hiragino Kaku Gothic ProN W6" pitchFamily="34" charset="-122"/>
                <a:cs typeface="Hiragino Kaku Gothic ProN W6" pitchFamily="34" charset="-120"/>
              </a:rPr>
              <a:t>期待成績</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期待最終ポイントは約92.5万pt。控除率を投票全額で受ける素朴な戦略の想定着地</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(70〜85万pt)に対し、相対順位で優位に立つ設計です。大口額は残り日数から毎朝</a:t>
            </a:r>
            <a:endParaRPr lang="en-US" sz="1100" dirty="0"/>
          </a:p>
          <a:p>
            <a:pPr marL="0" indent="0">
              <a:lnSpc>
                <a:spcPct val="14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自動計算し、最終日に累計51万ptへ着地させます。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KEY IDEAS</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工夫したポイント ― 検証を速く・自分に厳しく</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「良くなった気がする」を排除するため、検証の仕組みづくりに最も時間を使いました。</a:t>
            </a:r>
            <a:endParaRPr lang="en-US" sz="1050" dirty="0"/>
          </a:p>
        </p:txBody>
      </p:sp>
      <p:sp>
        <p:nvSpPr>
          <p:cNvPr id="7" name="Shape 5"/>
          <p:cNvSpPr/>
          <p:nvPr/>
        </p:nvSpPr>
        <p:spPr>
          <a:xfrm>
            <a:off x="457200" y="1883664"/>
            <a:ext cx="82296" cy="82296"/>
          </a:xfrm>
          <a:prstGeom prst="rect">
            <a:avLst/>
          </a:prstGeom>
          <a:solidFill>
            <a:srgbClr val="3E8C7C"/>
          </a:solidFill>
          <a:ln/>
        </p:spPr>
        <p:txBody>
          <a:bodyPr/>
          <a:lstStyle/>
          <a:p>
            <a:endParaRPr lang="ja-JP" altLang="en-US"/>
          </a:p>
        </p:txBody>
      </p:sp>
      <p:sp>
        <p:nvSpPr>
          <p:cNvPr id="8" name="Text 6"/>
          <p:cNvSpPr/>
          <p:nvPr/>
        </p:nvSpPr>
        <p:spPr>
          <a:xfrm>
            <a:off x="658368" y="1773936"/>
            <a:ext cx="8001000" cy="777240"/>
          </a:xfrm>
          <a:prstGeom prst="rect">
            <a:avLst/>
          </a:prstGeom>
          <a:noFill/>
          <a:ln/>
        </p:spPr>
        <p:txBody>
          <a:bodyPr wrap="square" lIns="0" tIns="0" rIns="0" bIns="0" rtlCol="0" anchor="t"/>
          <a:lstStyle/>
          <a:p>
            <a:pPr marL="0" indent="0">
              <a:lnSpc>
                <a:spcPct val="130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予測とデシジョンの分離</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予測値を一度CSVに保存し、戦略パラメータの探索は保存済みデータ上で回す構成に。特徴量再構築10分が数秒になり、384設定の網羅比較が可能になりました。</a:t>
            </a:r>
            <a:endParaRPr lang="en-US" sz="1150" dirty="0"/>
          </a:p>
        </p:txBody>
      </p:sp>
      <p:sp>
        <p:nvSpPr>
          <p:cNvPr id="9" name="Shape 7"/>
          <p:cNvSpPr/>
          <p:nvPr/>
        </p:nvSpPr>
        <p:spPr>
          <a:xfrm>
            <a:off x="457200" y="2724912"/>
            <a:ext cx="82296" cy="82296"/>
          </a:xfrm>
          <a:prstGeom prst="rect">
            <a:avLst/>
          </a:prstGeom>
          <a:solidFill>
            <a:srgbClr val="3E8C7C"/>
          </a:solidFill>
          <a:ln/>
        </p:spPr>
        <p:txBody>
          <a:bodyPr/>
          <a:lstStyle/>
          <a:p>
            <a:endParaRPr lang="ja-JP" altLang="en-US"/>
          </a:p>
        </p:txBody>
      </p:sp>
      <p:sp>
        <p:nvSpPr>
          <p:cNvPr id="10" name="Text 8"/>
          <p:cNvSpPr/>
          <p:nvPr/>
        </p:nvSpPr>
        <p:spPr>
          <a:xfrm>
            <a:off x="658368" y="2615184"/>
            <a:ext cx="8001000" cy="777240"/>
          </a:xfrm>
          <a:prstGeom prst="rect">
            <a:avLst/>
          </a:prstGeom>
          <a:noFill/>
          <a:ln/>
        </p:spPr>
        <p:txBody>
          <a:bodyPr wrap="square" lIns="0" tIns="0" rIns="0" bIns="0" rtlCol="0" anchor="t"/>
          <a:lstStyle/>
          <a:p>
            <a:pPr marL="0" indent="0">
              <a:lnSpc>
                <a:spcPct val="130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判定基準の事前登録</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「EV1.05以上の実現ROIが2024と2025の両窓でプラスなら採用」と先に決めてから検証。都合の良い設定だけを拾う多重比較の罠を防ぎました。</a:t>
            </a:r>
            <a:endParaRPr lang="en-US" sz="1150" dirty="0"/>
          </a:p>
        </p:txBody>
      </p:sp>
      <p:sp>
        <p:nvSpPr>
          <p:cNvPr id="11" name="Shape 9"/>
          <p:cNvSpPr/>
          <p:nvPr/>
        </p:nvSpPr>
        <p:spPr>
          <a:xfrm>
            <a:off x="457200" y="3566160"/>
            <a:ext cx="82296" cy="82296"/>
          </a:xfrm>
          <a:prstGeom prst="rect">
            <a:avLst/>
          </a:prstGeom>
          <a:solidFill>
            <a:srgbClr val="3E8C7C"/>
          </a:solidFill>
          <a:ln/>
        </p:spPr>
        <p:txBody>
          <a:bodyPr/>
          <a:lstStyle/>
          <a:p>
            <a:endParaRPr lang="ja-JP" altLang="en-US"/>
          </a:p>
        </p:txBody>
      </p:sp>
      <p:sp>
        <p:nvSpPr>
          <p:cNvPr id="12" name="Text 10"/>
          <p:cNvSpPr/>
          <p:nvPr/>
        </p:nvSpPr>
        <p:spPr>
          <a:xfrm>
            <a:off x="658368" y="3456432"/>
            <a:ext cx="8001000" cy="777240"/>
          </a:xfrm>
          <a:prstGeom prst="rect">
            <a:avLst/>
          </a:prstGeom>
          <a:noFill/>
          <a:ln/>
        </p:spPr>
        <p:txBody>
          <a:bodyPr wrap="square" lIns="0" tIns="0" rIns="0" bIns="0" rtlCol="0" anchor="t"/>
          <a:lstStyle/>
          <a:p>
            <a:pPr marL="0" indent="0">
              <a:lnSpc>
                <a:spcPct val="130000"/>
              </a:lnSpc>
              <a:buNone/>
            </a:pPr>
            <a:r>
              <a:rPr lang="en-US" sz="1150" dirty="0">
                <a:solidFill>
                  <a:srgbClr val="1A1A1A"/>
                </a:solidFill>
                <a:latin typeface="Hiragino Kaku Gothic ProN W6" pitchFamily="34" charset="0"/>
                <a:ea typeface="Hiragino Kaku Gothic ProN W6" pitchFamily="34" charset="-122"/>
                <a:cs typeface="Hiragino Kaku Gothic ProN W6" pitchFamily="34" charset="-120"/>
              </a:rPr>
              <a:t>2窓での再現性確認</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チューニングは2024年窓、検証は2025年窓と分離。片方だけ良い結果は「たまたま」と判定して捨てています。</a:t>
            </a:r>
            <a:endParaRPr lang="en-US" sz="1150" dirty="0"/>
          </a:p>
        </p:txBody>
      </p:sp>
      <p:sp>
        <p:nvSpPr>
          <p:cNvPr id="13" name="Shape 11"/>
          <p:cNvSpPr/>
          <p:nvPr/>
        </p:nvSpPr>
        <p:spPr>
          <a:xfrm>
            <a:off x="457200" y="4526280"/>
            <a:ext cx="82296" cy="82296"/>
          </a:xfrm>
          <a:prstGeom prst="rect">
            <a:avLst/>
          </a:prstGeom>
          <a:solidFill>
            <a:srgbClr val="3E8C7C"/>
          </a:solidFill>
          <a:ln/>
        </p:spPr>
        <p:txBody>
          <a:bodyPr/>
          <a:lstStyle/>
          <a:p>
            <a:endParaRPr lang="ja-JP" altLang="en-US"/>
          </a:p>
        </p:txBody>
      </p:sp>
      <p:sp>
        <p:nvSpPr>
          <p:cNvPr id="14" name="Text 12"/>
          <p:cNvSpPr/>
          <p:nvPr/>
        </p:nvSpPr>
        <p:spPr>
          <a:xfrm>
            <a:off x="603504" y="443484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発想の原点は「モデル改善の効果はROIで測れなければ意味がない」という反省です。</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10896"/>
            <a:ext cx="100584" cy="100584"/>
          </a:xfrm>
          <a:prstGeom prst="rect">
            <a:avLst/>
          </a:prstGeom>
          <a:solidFill>
            <a:srgbClr val="3E8C7C"/>
          </a:solidFill>
          <a:ln/>
        </p:spPr>
        <p:txBody>
          <a:bodyPr/>
          <a:lstStyle/>
          <a:p>
            <a:endParaRPr lang="ja-JP" altLang="en-US"/>
          </a:p>
        </p:txBody>
      </p:sp>
      <p:sp>
        <p:nvSpPr>
          <p:cNvPr id="3" name="Text 1"/>
          <p:cNvSpPr/>
          <p:nvPr/>
        </p:nvSpPr>
        <p:spPr>
          <a:xfrm>
            <a:off x="621792" y="237744"/>
            <a:ext cx="5029200" cy="256032"/>
          </a:xfrm>
          <a:prstGeom prst="rect">
            <a:avLst/>
          </a:prstGeom>
          <a:noFill/>
          <a:ln/>
        </p:spPr>
        <p:txBody>
          <a:bodyPr wrap="square" lIns="0" tIns="0" rIns="0" bIns="0" rtlCol="0" anchor="ctr"/>
          <a:lstStyle/>
          <a:p>
            <a:pPr marL="0" indent="0" algn="l">
              <a:buNone/>
            </a:pPr>
            <a:r>
              <a:rPr lang="en-US" sz="1050" kern="0" spc="300" dirty="0">
                <a:solidFill>
                  <a:srgbClr val="3E8C7C"/>
                </a:solidFill>
                <a:latin typeface="Hiragino Kaku Gothic ProN W6" pitchFamily="34" charset="0"/>
                <a:ea typeface="Hiragino Kaku Gothic ProN W6" pitchFamily="34" charset="-122"/>
                <a:cs typeface="Hiragino Kaku Gothic ProN W6" pitchFamily="34" charset="-120"/>
              </a:rPr>
              <a:t>LESSONS LEARNED</a:t>
            </a:r>
            <a:endParaRPr lang="en-US" sz="1050" dirty="0"/>
          </a:p>
        </p:txBody>
      </p:sp>
      <p:sp>
        <p:nvSpPr>
          <p:cNvPr id="4" name="Text 2"/>
          <p:cNvSpPr/>
          <p:nvPr/>
        </p:nvSpPr>
        <p:spPr>
          <a:xfrm>
            <a:off x="457200" y="566928"/>
            <a:ext cx="8229600" cy="457200"/>
          </a:xfrm>
          <a:prstGeom prst="rect">
            <a:avLst/>
          </a:prstGeom>
          <a:noFill/>
          <a:ln/>
        </p:spPr>
        <p:txBody>
          <a:bodyPr wrap="square" lIns="0" tIns="0" rIns="0" bIns="0" rtlCol="0" anchor="ctr"/>
          <a:lstStyle/>
          <a:p>
            <a:pPr marL="0" indent="0" algn="l">
              <a:buNone/>
            </a:pPr>
            <a:r>
              <a:rPr lang="en-US" sz="2000" dirty="0">
                <a:solidFill>
                  <a:srgbClr val="1A1A1A"/>
                </a:solidFill>
                <a:latin typeface="Hiragino Kaku Gothic ProN W6" pitchFamily="34" charset="0"/>
                <a:ea typeface="Hiragino Kaku Gothic ProN W6" pitchFamily="34" charset="-122"/>
                <a:cs typeface="Hiragino Kaku Gothic ProN W6" pitchFamily="34" charset="-120"/>
              </a:rPr>
              <a:t>躓いたポイント ― 2つの事故と1つの現実</a:t>
            </a:r>
            <a:endParaRPr lang="en-US" sz="2000" dirty="0"/>
          </a:p>
        </p:txBody>
      </p:sp>
      <p:sp>
        <p:nvSpPr>
          <p:cNvPr id="5" name="Shape 3"/>
          <p:cNvSpPr/>
          <p:nvPr/>
        </p:nvSpPr>
        <p:spPr>
          <a:xfrm>
            <a:off x="457200" y="1115568"/>
            <a:ext cx="8229600" cy="402336"/>
          </a:xfrm>
          <a:prstGeom prst="rect">
            <a:avLst/>
          </a:prstGeom>
          <a:solidFill>
            <a:srgbClr val="EAF2EF"/>
          </a:solidFill>
          <a:ln/>
        </p:spPr>
        <p:txBody>
          <a:bodyPr/>
          <a:lstStyle/>
          <a:p>
            <a:endParaRPr lang="ja-JP" altLang="en-US"/>
          </a:p>
        </p:txBody>
      </p:sp>
      <p:sp>
        <p:nvSpPr>
          <p:cNvPr id="6" name="Text 4"/>
          <p:cNvSpPr/>
          <p:nvPr/>
        </p:nvSpPr>
        <p:spPr>
          <a:xfrm>
            <a:off x="621792" y="1115568"/>
            <a:ext cx="7955280" cy="402336"/>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失敗はいずれも「小さな違和感を放置しない」ことで発見できました。</a:t>
            </a:r>
            <a:endParaRPr lang="en-US" sz="1050" dirty="0"/>
          </a:p>
        </p:txBody>
      </p:sp>
      <p:sp>
        <p:nvSpPr>
          <p:cNvPr id="7" name="Shape 5"/>
          <p:cNvSpPr/>
          <p:nvPr/>
        </p:nvSpPr>
        <p:spPr>
          <a:xfrm>
            <a:off x="457200" y="1792224"/>
            <a:ext cx="82296" cy="82296"/>
          </a:xfrm>
          <a:prstGeom prst="rect">
            <a:avLst/>
          </a:prstGeom>
          <a:solidFill>
            <a:srgbClr val="C0763A"/>
          </a:solidFill>
          <a:ln/>
        </p:spPr>
        <p:txBody>
          <a:bodyPr/>
          <a:lstStyle/>
          <a:p>
            <a:endParaRPr lang="ja-JP" altLang="en-US"/>
          </a:p>
        </p:txBody>
      </p:sp>
      <p:sp>
        <p:nvSpPr>
          <p:cNvPr id="8" name="Text 6"/>
          <p:cNvSpPr/>
          <p:nvPr/>
        </p:nvSpPr>
        <p:spPr>
          <a:xfrm>
            <a:off x="658368" y="1682496"/>
            <a:ext cx="8001000" cy="914400"/>
          </a:xfrm>
          <a:prstGeom prst="rect">
            <a:avLst/>
          </a:prstGeom>
          <a:noFill/>
          <a:ln/>
        </p:spPr>
        <p:txBody>
          <a:bodyPr wrap="square" lIns="0" tIns="0" rIns="0" bIns="0" rtlCol="0" anchor="t"/>
          <a:lstStyle/>
          <a:p>
            <a:pPr marL="0" indent="0">
              <a:lnSpc>
                <a:spcPct val="130000"/>
              </a:lnSpc>
              <a:buNone/>
            </a:pPr>
            <a:r>
              <a:rPr lang="en-US" sz="1150" dirty="0">
                <a:solidFill>
                  <a:srgbClr val="C0763A"/>
                </a:solidFill>
                <a:latin typeface="Hiragino Kaku Gothic ProN W6" pitchFamily="34" charset="0"/>
                <a:ea typeface="Hiragino Kaku Gothic ProN W6" pitchFamily="34" charset="-122"/>
                <a:cs typeface="Hiragino Kaku Gothic ProN W6" pitchFamily="34" charset="-120"/>
              </a:rPr>
              <a:t>行順破壊バグ</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特徴量関数が内部ソートしたまま返し、時系列分割が馬の生年別分割に化けていました。検証出力に古い年が混ざる違和感から発見し、行順保存を不変条件として実装・回帰テスト化しました。</a:t>
            </a:r>
            <a:endParaRPr lang="en-US" sz="1150" dirty="0"/>
          </a:p>
        </p:txBody>
      </p:sp>
      <p:sp>
        <p:nvSpPr>
          <p:cNvPr id="9" name="Shape 7"/>
          <p:cNvSpPr/>
          <p:nvPr/>
        </p:nvSpPr>
        <p:spPr>
          <a:xfrm>
            <a:off x="457200" y="2724912"/>
            <a:ext cx="82296" cy="82296"/>
          </a:xfrm>
          <a:prstGeom prst="rect">
            <a:avLst/>
          </a:prstGeom>
          <a:solidFill>
            <a:srgbClr val="C0763A"/>
          </a:solidFill>
          <a:ln/>
        </p:spPr>
        <p:txBody>
          <a:bodyPr/>
          <a:lstStyle/>
          <a:p>
            <a:endParaRPr lang="ja-JP" altLang="en-US"/>
          </a:p>
        </p:txBody>
      </p:sp>
      <p:sp>
        <p:nvSpPr>
          <p:cNvPr id="10" name="Text 8"/>
          <p:cNvSpPr/>
          <p:nvPr/>
        </p:nvSpPr>
        <p:spPr>
          <a:xfrm>
            <a:off x="658368" y="2615184"/>
            <a:ext cx="8001000" cy="914400"/>
          </a:xfrm>
          <a:prstGeom prst="rect">
            <a:avLst/>
          </a:prstGeom>
          <a:noFill/>
          <a:ln/>
        </p:spPr>
        <p:txBody>
          <a:bodyPr wrap="square" lIns="0" tIns="0" rIns="0" bIns="0" rtlCol="0" anchor="t"/>
          <a:lstStyle/>
          <a:p>
            <a:pPr marL="0" indent="0">
              <a:lnSpc>
                <a:spcPct val="130000"/>
              </a:lnSpc>
              <a:buNone/>
            </a:pPr>
            <a:r>
              <a:rPr lang="en-US" sz="1150" dirty="0">
                <a:solidFill>
                  <a:srgbClr val="C0763A"/>
                </a:solidFill>
                <a:latin typeface="Hiragino Kaku Gothic ProN W6" pitchFamily="34" charset="0"/>
                <a:ea typeface="Hiragino Kaku Gothic ProN W6" pitchFamily="34" charset="-122"/>
                <a:cs typeface="Hiragino Kaku Gothic ProN W6" pitchFamily="34" charset="-120"/>
              </a:rPr>
              <a:t>EVフィルタの逆選択</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「期待値1以上」の買い目が三連単で550件出た際、中身は確率0.001%×理論オッズの数値アーティファクトでした。最小確率・オッズ上限・控除率反映の3段ガードで現実的な水準まで絞りました。</a:t>
            </a:r>
            <a:endParaRPr lang="en-US" sz="1150" dirty="0"/>
          </a:p>
        </p:txBody>
      </p:sp>
      <p:sp>
        <p:nvSpPr>
          <p:cNvPr id="11" name="Shape 9"/>
          <p:cNvSpPr/>
          <p:nvPr/>
        </p:nvSpPr>
        <p:spPr>
          <a:xfrm>
            <a:off x="457200" y="3657600"/>
            <a:ext cx="82296" cy="82296"/>
          </a:xfrm>
          <a:prstGeom prst="rect">
            <a:avLst/>
          </a:prstGeom>
          <a:solidFill>
            <a:srgbClr val="C0763A"/>
          </a:solidFill>
          <a:ln/>
        </p:spPr>
        <p:txBody>
          <a:bodyPr/>
          <a:lstStyle/>
          <a:p>
            <a:endParaRPr lang="ja-JP" altLang="en-US"/>
          </a:p>
        </p:txBody>
      </p:sp>
      <p:sp>
        <p:nvSpPr>
          <p:cNvPr id="12" name="Text 10"/>
          <p:cNvSpPr/>
          <p:nvPr/>
        </p:nvSpPr>
        <p:spPr>
          <a:xfrm>
            <a:off x="658368" y="3547872"/>
            <a:ext cx="8001000" cy="914400"/>
          </a:xfrm>
          <a:prstGeom prst="rect">
            <a:avLst/>
          </a:prstGeom>
          <a:noFill/>
          <a:ln/>
        </p:spPr>
        <p:txBody>
          <a:bodyPr wrap="square" lIns="0" tIns="0" rIns="0" bIns="0" rtlCol="0" anchor="t"/>
          <a:lstStyle/>
          <a:p>
            <a:pPr marL="0" indent="0">
              <a:lnSpc>
                <a:spcPct val="130000"/>
              </a:lnSpc>
              <a:buNone/>
            </a:pPr>
            <a:r>
              <a:rPr lang="en-US" sz="1150" dirty="0">
                <a:solidFill>
                  <a:srgbClr val="C0763A"/>
                </a:solidFill>
                <a:latin typeface="Hiragino Kaku Gothic ProN W6" pitchFamily="34" charset="0"/>
                <a:ea typeface="Hiragino Kaku Gothic ProN W6" pitchFamily="34" charset="-122"/>
                <a:cs typeface="Hiragino Kaku Gothic ProN W6" pitchFamily="34" charset="-120"/>
              </a:rPr>
              <a:t>市場の壁という現実</a:t>
            </a:r>
            <a:endParaRPr lang="en-US" sz="1150" dirty="0"/>
          </a:p>
          <a:p>
            <a:pPr marL="0" indent="0">
              <a:lnSpc>
                <a:spcPct val="130000"/>
              </a:lnSpc>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オッズを特徴量に入れた市場残差モデルでも、市場確率とのBrier差は0.0002で実質同値。市場が織り込む調教・馬体情報を持たない限り勝てないと結論し、戦略側で勝負する判断に切り替えました。</a:t>
            </a:r>
            <a:endParaRPr lang="en-US" sz="1150" dirty="0"/>
          </a:p>
        </p:txBody>
      </p:sp>
      <p:sp>
        <p:nvSpPr>
          <p:cNvPr id="13" name="Shape 11"/>
          <p:cNvSpPr/>
          <p:nvPr/>
        </p:nvSpPr>
        <p:spPr>
          <a:xfrm>
            <a:off x="457200" y="4617720"/>
            <a:ext cx="82296" cy="82296"/>
          </a:xfrm>
          <a:prstGeom prst="rect">
            <a:avLst/>
          </a:prstGeom>
          <a:solidFill>
            <a:srgbClr val="3E8C7C"/>
          </a:solidFill>
          <a:ln/>
        </p:spPr>
        <p:txBody>
          <a:bodyPr/>
          <a:lstStyle/>
          <a:p>
            <a:endParaRPr lang="ja-JP" altLang="en-US"/>
          </a:p>
        </p:txBody>
      </p:sp>
      <p:sp>
        <p:nvSpPr>
          <p:cNvPr id="14" name="Text 12"/>
          <p:cNvSpPr/>
          <p:nvPr/>
        </p:nvSpPr>
        <p:spPr>
          <a:xfrm>
            <a:off x="603504" y="4526280"/>
            <a:ext cx="8046720" cy="365760"/>
          </a:xfrm>
          <a:prstGeom prst="rect">
            <a:avLst/>
          </a:prstGeom>
          <a:noFill/>
          <a:ln/>
        </p:spPr>
        <p:txBody>
          <a:bodyPr wrap="square" lIns="0" tIns="0" rIns="0" bIns="0" rtlCol="0" anchor="ctr"/>
          <a:lstStyle/>
          <a:p>
            <a:pPr marL="0" indent="0" algn="l">
              <a:buNone/>
            </a:pPr>
            <a:r>
              <a:rPr lang="en-US" sz="1050" dirty="0">
                <a:solidFill>
                  <a:srgbClr val="1A1A1A"/>
                </a:solidFill>
                <a:latin typeface="Hiragino Kaku Gothic ProN W3" pitchFamily="34" charset="0"/>
                <a:ea typeface="Hiragino Kaku Gothic ProN W3" pitchFamily="34" charset="-122"/>
                <a:cs typeface="Hiragino Kaku Gothic ProN W3" pitchFamily="34" charset="-120"/>
              </a:rPr>
              <a:t>「市場に勝てない」という結論も、事前に決めた基準で判定したからこそ自信を持って受け入れられました。</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1097</Words>
  <Application>Microsoft Macintosh PowerPoint</Application>
  <PresentationFormat>画面に合わせる (16:9)</PresentationFormat>
  <Paragraphs>223</Paragraphs>
  <Slides>13</Slides>
  <Notes>13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13</vt:i4>
      </vt:variant>
    </vt:vector>
  </HeadingPairs>
  <TitlesOfParts>
    <vt:vector size="18" baseType="lpstr">
      <vt:lpstr>Hiragino Kaku Gothic ProN W3</vt:lpstr>
      <vt:lpstr>Hiragino Kaku Gothic ProN W6</vt:lpstr>
      <vt:lpstr>Arial</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今 奏太 KANATA KON</cp:lastModifiedBy>
  <cp:revision>2</cp:revision>
  <dcterms:created xsi:type="dcterms:W3CDTF">2026-08-05T17:09:37Z</dcterms:created>
  <dcterms:modified xsi:type="dcterms:W3CDTF">2026-08-06T05:07:06Z</dcterms:modified>
</cp:coreProperties>
</file>